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7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8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1" r:id="rId5"/>
    <p:sldId id="264" r:id="rId6"/>
    <p:sldId id="271" r:id="rId7"/>
    <p:sldId id="265" r:id="rId8"/>
    <p:sldId id="266" r:id="rId9"/>
    <p:sldId id="276" r:id="rId10"/>
    <p:sldId id="277" r:id="rId11"/>
    <p:sldId id="267" r:id="rId12"/>
    <p:sldId id="275" r:id="rId13"/>
    <p:sldId id="270" r:id="rId14"/>
    <p:sldId id="272" r:id="rId15"/>
    <p:sldId id="259" r:id="rId16"/>
    <p:sldId id="269" r:id="rId17"/>
    <p:sldId id="260" r:id="rId18"/>
    <p:sldId id="263" r:id="rId19"/>
    <p:sldId id="274" r:id="rId20"/>
    <p:sldId id="262" r:id="rId21"/>
    <p:sldId id="273" r:id="rId22"/>
  </p:sldIdLst>
  <p:sldSz cx="18288000" cy="10287000"/>
  <p:notesSz cx="6858000" cy="9144000"/>
  <p:embeddedFontLs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Montserrat Bold" panose="020B0604020202020204" charset="0"/>
      <p:regular r:id="rId28"/>
    </p:embeddedFont>
    <p:embeddedFont>
      <p:font typeface="Open Sans 1 Bold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title>
      <c:tx>
        <c:rich>
          <a:bodyPr/>
          <a:lstStyle/>
          <a:p>
            <a:r>
              <a:rPr lang="en-US" sz="1600" b="1">
                <a:solidFill>
                  <a:srgbClr val="1A1A17"/>
                </a:solidFill>
                <a:latin typeface="Calibri"/>
              </a:rPr>
              <a:t>Reviewer-hours per year at 3 s per decision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Reviewer-hours per year at 3 s per decision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D5CCB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A2F-43FA-8557-6B26F1204E15}"/>
              </c:ext>
            </c:extLst>
          </c:dPt>
          <c:dPt>
            <c:idx val="1"/>
            <c:invertIfNegative val="1"/>
            <c:bubble3D val="0"/>
            <c:spPr>
              <a:solidFill>
                <a:srgbClr val="1F3B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A2F-43FA-8557-6B26F1204E15}"/>
              </c:ext>
            </c:extLst>
          </c:dPt>
          <c:dPt>
            <c:idx val="2"/>
            <c:invertIfNegative val="1"/>
            <c:bubble3D val="0"/>
            <c:spPr>
              <a:solidFill>
                <a:srgbClr val="B5451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6A2F-43FA-8557-6B26F1204E15}"/>
              </c:ext>
            </c:extLst>
          </c:dPt>
          <c:dLbls>
            <c:numFmt formatCode="#,##0&quot; h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200" b="1">
                    <a:solidFill>
                      <a:srgbClr val="1A1A17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Review every frame</c:v>
                </c:pt>
                <c:pt idx="1">
                  <c:v>One decision per burst</c:v>
                </c:pt>
                <c:pt idx="2">
                  <c:v>+ blank filter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844</c:v>
                </c:pt>
                <c:pt idx="1">
                  <c:v>152</c:v>
                </c:pt>
                <c:pt idx="2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A2F-43FA-8557-6B26F1204E1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BDB5A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0"/>
          <c:min val="0"/>
        </c:scaling>
        <c:delete val="1"/>
        <c:axPos val="l"/>
        <c:numFmt formatCode="#,##0&quot; h&quot;" sourceLinked="0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400">
          <a:solidFill>
            <a:srgbClr val="5F5C5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title>
      <c:tx>
        <c:rich>
          <a:bodyPr/>
          <a:lstStyle/>
          <a:p>
            <a:r>
              <a:rPr lang="en-US" sz="1600" b="1">
                <a:solidFill>
                  <a:srgbClr val="1A1A17"/>
                </a:solidFill>
                <a:latin typeface="Calibri"/>
              </a:rPr>
              <a:t>Data sent over cellular per year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Data sent over cellular per year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D5CCB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E1E-41A0-97BD-A75C2E41E547}"/>
              </c:ext>
            </c:extLst>
          </c:dPt>
          <c:dPt>
            <c:idx val="1"/>
            <c:invertIfNegative val="1"/>
            <c:bubble3D val="0"/>
            <c:spPr>
              <a:solidFill>
                <a:srgbClr val="1F3B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E1E-41A0-97BD-A75C2E41E547}"/>
              </c:ext>
            </c:extLst>
          </c:dPt>
          <c:dPt>
            <c:idx val="2"/>
            <c:invertIfNegative val="1"/>
            <c:bubble3D val="0"/>
            <c:spPr>
              <a:solidFill>
                <a:srgbClr val="B5451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DE1E-41A0-97BD-A75C2E41E547}"/>
              </c:ext>
            </c:extLst>
          </c:dPt>
          <c:dLbls>
            <c:numFmt formatCode="0&quot; G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200" b="1">
                    <a:solidFill>
                      <a:srgbClr val="1A1A17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Send every frame</c:v>
                </c:pt>
                <c:pt idx="1">
                  <c:v>Filter blanks at the edge</c:v>
                </c:pt>
                <c:pt idx="2">
                  <c:v>+ one frame per burst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</c:v>
                </c:pt>
                <c:pt idx="1">
                  <c:v>29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E1E-41A0-97BD-A75C2E41E5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BDB5A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2"/>
          <c:min val="0"/>
        </c:scaling>
        <c:delete val="1"/>
        <c:axPos val="l"/>
        <c:numFmt formatCode="0&quot; GB&quot;" sourceLinked="0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400">
          <a:solidFill>
            <a:srgbClr val="5F5C5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title>
      <c:tx>
        <c:rich>
          <a:bodyPr/>
          <a:lstStyle/>
          <a:p>
            <a:r>
              <a:rPr lang="en-US" sz="1600" b="1">
                <a:solidFill>
                  <a:srgbClr val="1A1A17"/>
                </a:solidFill>
                <a:latin typeface="Calibri"/>
              </a:rPr>
              <a:t>181 species, grouped by how many photos each has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Species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5451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E03-496F-9E08-AEBD869F7F63}"/>
              </c:ext>
            </c:extLst>
          </c:dPt>
          <c:dPt>
            <c:idx val="1"/>
            <c:invertIfNegative val="1"/>
            <c:bubble3D val="0"/>
            <c:spPr>
              <a:solidFill>
                <a:srgbClr val="B5451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E03-496F-9E08-AEBD869F7F63}"/>
              </c:ext>
            </c:extLst>
          </c:dPt>
          <c:dPt>
            <c:idx val="2"/>
            <c:invertIfNegative val="1"/>
            <c:bubble3D val="0"/>
            <c:spPr>
              <a:solidFill>
                <a:srgbClr val="C9A66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1E03-496F-9E08-AEBD869F7F63}"/>
              </c:ext>
            </c:extLst>
          </c:dPt>
          <c:dPt>
            <c:idx val="3"/>
            <c:invertIfNegative val="1"/>
            <c:bubble3D val="0"/>
            <c:spPr>
              <a:solidFill>
                <a:srgbClr val="1F3B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1E03-496F-9E08-AEBD869F7F63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400" b="1">
                    <a:solidFill>
                      <a:srgbClr val="1A1A17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 photo</c:v>
                </c:pt>
                <c:pt idx="1">
                  <c:v>2–10</c:v>
                </c:pt>
                <c:pt idx="2">
                  <c:v>11–100</c:v>
                </c:pt>
                <c:pt idx="3">
                  <c:v>over 100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46</c:v>
                </c:pt>
                <c:pt idx="2">
                  <c:v>56</c:v>
                </c:pt>
                <c:pt idx="3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E03-496F-9E08-AEBD869F7F6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BDB5A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5"/>
          <c:min val="0"/>
        </c:scaling>
        <c:delete val="1"/>
        <c:axPos val="l"/>
        <c:numFmt formatCode="0" sourceLinked="0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500">
          <a:solidFill>
            <a:srgbClr val="5F5C5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title>
      <c:tx>
        <c:rich>
          <a:bodyPr/>
          <a:lstStyle/>
          <a:p>
            <a:r>
              <a:rPr lang="en-US" sz="1600" b="1">
                <a:solidFill>
                  <a:srgbClr val="1A1A17"/>
                </a:solidFill>
                <a:latin typeface="Calibri"/>
              </a:rPr>
              <a:t>Share of detections by time of day (12 most photographed species)</a:t>
            </a:r>
          </a:p>
        </c:rich>
      </c:tx>
      <c:overlay val="0"/>
    </c:title>
    <c:autoTitleDeleted val="0"/>
    <c:plotArea>
      <c:layout/>
      <c:barChart>
        <c:barDir val="bar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Night</c:v>
                </c:pt>
              </c:strCache>
            </c:strRef>
          </c:tx>
          <c:spPr>
            <a:solidFill>
              <a:srgbClr val="1F3B2C"/>
            </a:solidFill>
            <a:ln>
              <a:noFill/>
            </a:ln>
          </c:spPr>
          <c:invertIfNegative val="1"/>
          <c:cat>
            <c:strRef>
              <c:f>Sheet1!$A$2:$A$13</c:f>
              <c:strCache>
                <c:ptCount val="12"/>
                <c:pt idx="0">
                  <c:v>cattle</c:v>
                </c:pt>
                <c:pt idx="1">
                  <c:v>great curassow</c:v>
                </c:pt>
                <c:pt idx="2">
                  <c:v>ocellated turkey</c:v>
                </c:pt>
                <c:pt idx="3">
                  <c:v>agouti</c:v>
                </c:pt>
                <c:pt idx="4">
                  <c:v>white-lipped peccary</c:v>
                </c:pt>
                <c:pt idx="5">
                  <c:v>impala</c:v>
                </c:pt>
                <c:pt idx="6">
                  <c:v>black-fronted duiker</c:v>
                </c:pt>
                <c:pt idx="7">
                  <c:v>red brocket deer</c:v>
                </c:pt>
                <c:pt idx="8">
                  <c:v>puma</c:v>
                </c:pt>
                <c:pt idx="9">
                  <c:v>gray fox</c:v>
                </c:pt>
                <c:pt idx="10">
                  <c:v>jaguar</c:v>
                </c:pt>
                <c:pt idx="11">
                  <c:v>ocelot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3.0000000000000001E-3</c:v>
                </c:pt>
                <c:pt idx="4">
                  <c:v>2.3E-2</c:v>
                </c:pt>
                <c:pt idx="5">
                  <c:v>5.6000000000000001E-2</c:v>
                </c:pt>
                <c:pt idx="6">
                  <c:v>0.10299999999999999</c:v>
                </c:pt>
                <c:pt idx="7">
                  <c:v>0.114</c:v>
                </c:pt>
                <c:pt idx="8">
                  <c:v>0.40500000000000003</c:v>
                </c:pt>
                <c:pt idx="9">
                  <c:v>0.436</c:v>
                </c:pt>
                <c:pt idx="10">
                  <c:v>0.44600000000000001</c:v>
                </c:pt>
                <c:pt idx="11">
                  <c:v>0.77300000000000002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014-465A-B5DC-268ECCE056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Dawn / dusk</c:v>
                </c:pt>
              </c:strCache>
            </c:strRef>
          </c:tx>
          <c:spPr>
            <a:solidFill>
              <a:srgbClr val="B5451B"/>
            </a:solidFill>
            <a:ln>
              <a:noFill/>
            </a:ln>
          </c:spPr>
          <c:invertIfNegative val="1"/>
          <c:cat>
            <c:strRef>
              <c:f>Sheet1!$A$2:$A$13</c:f>
              <c:strCache>
                <c:ptCount val="12"/>
                <c:pt idx="0">
                  <c:v>cattle</c:v>
                </c:pt>
                <c:pt idx="1">
                  <c:v>great curassow</c:v>
                </c:pt>
                <c:pt idx="2">
                  <c:v>ocellated turkey</c:v>
                </c:pt>
                <c:pt idx="3">
                  <c:v>agouti</c:v>
                </c:pt>
                <c:pt idx="4">
                  <c:v>white-lipped peccary</c:v>
                </c:pt>
                <c:pt idx="5">
                  <c:v>impala</c:v>
                </c:pt>
                <c:pt idx="6">
                  <c:v>black-fronted duiker</c:v>
                </c:pt>
                <c:pt idx="7">
                  <c:v>red brocket deer</c:v>
                </c:pt>
                <c:pt idx="8">
                  <c:v>puma</c:v>
                </c:pt>
                <c:pt idx="9">
                  <c:v>gray fox</c:v>
                </c:pt>
                <c:pt idx="10">
                  <c:v>jaguar</c:v>
                </c:pt>
                <c:pt idx="11">
                  <c:v>ocelot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4.4999999999999998E-2</c:v>
                </c:pt>
                <c:pt idx="1">
                  <c:v>0.57599999999999996</c:v>
                </c:pt>
                <c:pt idx="2">
                  <c:v>0.42699999999999999</c:v>
                </c:pt>
                <c:pt idx="3">
                  <c:v>0.58499999999999996</c:v>
                </c:pt>
                <c:pt idx="4">
                  <c:v>0.24199999999999999</c:v>
                </c:pt>
                <c:pt idx="5">
                  <c:v>0.17899999999999999</c:v>
                </c:pt>
                <c:pt idx="6">
                  <c:v>0.48399999999999999</c:v>
                </c:pt>
                <c:pt idx="7">
                  <c:v>0.44500000000000001</c:v>
                </c:pt>
                <c:pt idx="8">
                  <c:v>0.36399999999999999</c:v>
                </c:pt>
                <c:pt idx="9">
                  <c:v>0.25600000000000001</c:v>
                </c:pt>
                <c:pt idx="10">
                  <c:v>0.32900000000000001</c:v>
                </c:pt>
                <c:pt idx="11">
                  <c:v>0.16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014-465A-B5DC-268ECCE0564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Day</c:v>
                </c:pt>
              </c:strCache>
            </c:strRef>
          </c:tx>
          <c:spPr>
            <a:solidFill>
              <a:srgbClr val="C9A66B"/>
            </a:solidFill>
            <a:ln>
              <a:noFill/>
            </a:ln>
          </c:spPr>
          <c:invertIfNegative val="1"/>
          <c:cat>
            <c:strRef>
              <c:f>Sheet1!$A$2:$A$13</c:f>
              <c:strCache>
                <c:ptCount val="12"/>
                <c:pt idx="0">
                  <c:v>cattle</c:v>
                </c:pt>
                <c:pt idx="1">
                  <c:v>great curassow</c:v>
                </c:pt>
                <c:pt idx="2">
                  <c:v>ocellated turkey</c:v>
                </c:pt>
                <c:pt idx="3">
                  <c:v>agouti</c:v>
                </c:pt>
                <c:pt idx="4">
                  <c:v>white-lipped peccary</c:v>
                </c:pt>
                <c:pt idx="5">
                  <c:v>impala</c:v>
                </c:pt>
                <c:pt idx="6">
                  <c:v>black-fronted duiker</c:v>
                </c:pt>
                <c:pt idx="7">
                  <c:v>red brocket deer</c:v>
                </c:pt>
                <c:pt idx="8">
                  <c:v>puma</c:v>
                </c:pt>
                <c:pt idx="9">
                  <c:v>gray fox</c:v>
                </c:pt>
                <c:pt idx="10">
                  <c:v>jaguar</c:v>
                </c:pt>
                <c:pt idx="11">
                  <c:v>ocelot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0.95499999999999996</c:v>
                </c:pt>
                <c:pt idx="1">
                  <c:v>0.42399999999999999</c:v>
                </c:pt>
                <c:pt idx="2">
                  <c:v>0.57299999999999995</c:v>
                </c:pt>
                <c:pt idx="3">
                  <c:v>0.41199999999999998</c:v>
                </c:pt>
                <c:pt idx="4">
                  <c:v>0.73599999999999999</c:v>
                </c:pt>
                <c:pt idx="5">
                  <c:v>0.76500000000000001</c:v>
                </c:pt>
                <c:pt idx="6">
                  <c:v>0.41299999999999998</c:v>
                </c:pt>
                <c:pt idx="7">
                  <c:v>0.441</c:v>
                </c:pt>
                <c:pt idx="8">
                  <c:v>0.23100000000000001</c:v>
                </c:pt>
                <c:pt idx="9">
                  <c:v>0.308</c:v>
                </c:pt>
                <c:pt idx="10">
                  <c:v>0.22500000000000001</c:v>
                </c:pt>
                <c:pt idx="11">
                  <c:v>6.8000000000000005E-2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5014-465A-B5DC-268ECCE056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BDB5A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b"/>
        <c:majorGridlines>
          <c:spPr>
            <a:ln w="9525">
              <a:solidFill>
                <a:srgbClr val="E4DFD4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400">
          <a:solidFill>
            <a:srgbClr val="5F5C5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title>
      <c:tx>
        <c:rich>
          <a:bodyPr/>
          <a:lstStyle/>
          <a:p>
            <a:r>
              <a:rPr lang="en-US" sz="1600" b="1">
                <a:solidFill>
                  <a:srgbClr val="1A1A17"/>
                </a:solidFill>
                <a:latin typeface="Calibri"/>
              </a:rPr>
              <a:t>Shift size (total variation distance; higher = bigger shift)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Shift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F3B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218-48F3-9443-EDD76D9E7077}"/>
              </c:ext>
            </c:extLst>
          </c:dPt>
          <c:dPt>
            <c:idx val="1"/>
            <c:invertIfNegative val="1"/>
            <c:bubble3D val="0"/>
            <c:spPr>
              <a:solidFill>
                <a:srgbClr val="1F3B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5218-48F3-9443-EDD76D9E7077}"/>
              </c:ext>
            </c:extLst>
          </c:dPt>
          <c:dPt>
            <c:idx val="2"/>
            <c:invertIfNegative val="1"/>
            <c:bubble3D val="0"/>
            <c:spPr>
              <a:solidFill>
                <a:srgbClr val="1F3B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5218-48F3-9443-EDD76D9E7077}"/>
              </c:ext>
            </c:extLst>
          </c:dPt>
          <c:dPt>
            <c:idx val="3"/>
            <c:invertIfNegative val="1"/>
            <c:bubble3D val="0"/>
            <c:spPr>
              <a:solidFill>
                <a:srgbClr val="1F3B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5218-48F3-9443-EDD76D9E7077}"/>
              </c:ext>
            </c:extLst>
          </c:dPt>
          <c:dPt>
            <c:idx val="4"/>
            <c:invertIfNegative val="1"/>
            <c:bubble3D val="0"/>
            <c:spPr>
              <a:solidFill>
                <a:srgbClr val="B5451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5218-48F3-9443-EDD76D9E7077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>
                    <a:solidFill>
                      <a:srgbClr val="1A1A17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Blank rate</c:v>
                </c:pt>
                <c:pt idx="1">
                  <c:v>Infrared share</c:v>
                </c:pt>
                <c:pt idx="2">
                  <c:v>Burst length</c:v>
                </c:pt>
                <c:pt idx="3">
                  <c:v>Hour of day</c:v>
                </c:pt>
                <c:pt idx="4">
                  <c:v>Which species appear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0.04</c:v>
                </c:pt>
                <c:pt idx="1">
                  <c:v>9.6000000000000002E-2</c:v>
                </c:pt>
                <c:pt idx="2">
                  <c:v>0.13300000000000001</c:v>
                </c:pt>
                <c:pt idx="3">
                  <c:v>0.16900000000000001</c:v>
                </c:pt>
                <c:pt idx="4">
                  <c:v>0.23699999999999999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218-48F3-9443-EDD76D9E707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BDB5A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28999999999999998"/>
          <c:min val="0"/>
        </c:scaling>
        <c:delete val="1"/>
        <c:axPos val="b"/>
        <c:numFmt formatCode="0.00" sourceLinked="0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500">
          <a:solidFill>
            <a:srgbClr val="5F5C5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title>
      <c:tx>
        <c:rich>
          <a:bodyPr/>
          <a:lstStyle/>
          <a:p>
            <a:r>
              <a:rPr lang="en-US" sz="1600" b="1">
                <a:solidFill>
                  <a:srgbClr val="1A1A17"/>
                </a:solidFill>
                <a:latin typeface="Calibri"/>
              </a:rPr>
              <a:t>ResNet-18 accuracy on the 29 unseen cameras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F3B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195-4263-862E-0E75DA2569EA}"/>
              </c:ext>
            </c:extLst>
          </c:dPt>
          <c:dPt>
            <c:idx val="1"/>
            <c:invertIfNegative val="1"/>
            <c:bubble3D val="0"/>
            <c:spPr>
              <a:solidFill>
                <a:srgbClr val="B5451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195-4263-862E-0E75DA2569EA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400" b="1">
                    <a:solidFill>
                      <a:srgbClr val="1A1A17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23 single-species cameras
(1,240 images)</c:v>
                </c:pt>
                <c:pt idx="1">
                  <c:v>6 contested cameras
(3,121 images)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0.91</c:v>
                </c:pt>
                <c:pt idx="1">
                  <c:v>0.53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195-4263-862E-0E75DA2569E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BDB5A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1"/>
        <c:axPos val="l"/>
        <c:numFmt formatCode="0%" sourceLinked="0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400">
          <a:solidFill>
            <a:srgbClr val="5F5C5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title>
      <c:tx>
        <c:rich>
          <a:bodyPr/>
          <a:lstStyle/>
          <a:p>
            <a:r>
              <a:rPr lang="en-US" sz="1600" b="1">
                <a:solidFill>
                  <a:srgbClr val="1A1A17"/>
                </a:solidFill>
                <a:latin typeface="Calibri"/>
              </a:rPr>
              <a:t>Honest macro F1 on the 29 unseen cameras (per image)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Honest macro F1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5451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D43-45A5-8F46-01803164F379}"/>
              </c:ext>
            </c:extLst>
          </c:dPt>
          <c:dPt>
            <c:idx val="1"/>
            <c:invertIfNegative val="1"/>
            <c:bubble3D val="0"/>
            <c:spPr>
              <a:solidFill>
                <a:srgbClr val="1F3B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D43-45A5-8F46-01803164F379}"/>
              </c:ext>
            </c:extLst>
          </c:dPt>
          <c:dPt>
            <c:idx val="2"/>
            <c:invertIfNegative val="1"/>
            <c:bubble3D val="0"/>
            <c:spPr>
              <a:solidFill>
                <a:srgbClr val="1F3B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4D43-45A5-8F46-01803164F379}"/>
              </c:ext>
            </c:extLst>
          </c:dPt>
          <c:dPt>
            <c:idx val="3"/>
            <c:invertIfNegative val="1"/>
            <c:bubble3D val="0"/>
            <c:spPr>
              <a:solidFill>
                <a:srgbClr val="1F3B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4D43-45A5-8F46-01803164F379}"/>
              </c:ext>
            </c:extLst>
          </c:dPt>
          <c:dPt>
            <c:idx val="4"/>
            <c:invertIfNegative val="1"/>
            <c:bubble3D val="0"/>
            <c:spPr>
              <a:solidFill>
                <a:srgbClr val="1F3B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4D43-45A5-8F46-01803164F379}"/>
              </c:ext>
            </c:extLst>
          </c:dPt>
          <c:dPt>
            <c:idx val="5"/>
            <c:invertIfNegative val="1"/>
            <c:bubble3D val="0"/>
            <c:spPr>
              <a:solidFill>
                <a:srgbClr val="1F3B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4D43-45A5-8F46-01803164F379}"/>
              </c:ext>
            </c:extLst>
          </c:dPt>
          <c:dPt>
            <c:idx val="6"/>
            <c:invertIfNegative val="1"/>
            <c:bubble3D val="0"/>
            <c:spPr>
              <a:solidFill>
                <a:srgbClr val="1F3B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4D43-45A5-8F46-01803164F379}"/>
              </c:ext>
            </c:extLst>
          </c:dPt>
          <c:dPt>
            <c:idx val="7"/>
            <c:invertIfNegative val="1"/>
            <c:bubble3D val="0"/>
            <c:spPr>
              <a:solidFill>
                <a:srgbClr val="1F3B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4D43-45A5-8F46-01803164F379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A1A17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SpeciesNet + MLP probe (final)</c:v>
                </c:pt>
                <c:pt idx="1">
                  <c:v>BioCLIP + MegaDetector crop (LR + XGB)</c:v>
                </c:pt>
                <c:pt idx="2">
                  <c:v>BioCLIP + background-subtraction crop</c:v>
                </c:pt>
                <c:pt idx="3">
                  <c:v>BioCLIP, full frame</c:v>
                </c:pt>
                <c:pt idx="4">
                  <c:v>ResNet-18 v3 (192 px, mixup)</c:v>
                </c:pt>
                <c:pt idx="5">
                  <c:v>EfficientNetV2-S + XGBoost</c:v>
                </c:pt>
                <c:pt idx="6">
                  <c:v>ResNet-18, single LR (128 px)</c:v>
                </c:pt>
                <c:pt idx="7">
                  <c:v>SmallCNN from scratch (64 px)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0.73399999999999999</c:v>
                </c:pt>
                <c:pt idx="1">
                  <c:v>0.59799999999999998</c:v>
                </c:pt>
                <c:pt idx="2">
                  <c:v>0.51</c:v>
                </c:pt>
                <c:pt idx="3">
                  <c:v>0.49</c:v>
                </c:pt>
                <c:pt idx="4">
                  <c:v>0.44600000000000001</c:v>
                </c:pt>
                <c:pt idx="5">
                  <c:v>0.437</c:v>
                </c:pt>
                <c:pt idx="6">
                  <c:v>0.42099999999999999</c:v>
                </c:pt>
                <c:pt idx="7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D43-45A5-8F46-01803164F37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BDB5A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5"/>
          <c:min val="0"/>
        </c:scaling>
        <c:delete val="1"/>
        <c:axPos val="b"/>
        <c:numFmt formatCode="0.00" sourceLinked="0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400">
          <a:solidFill>
            <a:srgbClr val="5F5C5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title>
      <c:tx>
        <c:rich>
          <a:bodyPr/>
          <a:lstStyle/>
          <a:p>
            <a:r>
              <a:rPr lang="en-US" sz="1600" b="1">
                <a:solidFill>
                  <a:srgbClr val="1A1A17"/>
                </a:solidFill>
                <a:latin typeface="Calibri"/>
              </a:rPr>
              <a:t>F1 per class on the 29 unseen cameras (per image)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ResNet-18 v3</c:v>
                </c:pt>
              </c:strCache>
            </c:strRef>
          </c:tx>
          <c:spPr>
            <a:solidFill>
              <a:srgbClr val="D5CCBB"/>
            </a:solidFill>
            <a:ln>
              <a:noFill/>
            </a:ln>
          </c:spPr>
          <c:invertIfNegative val="1"/>
          <c:cat>
            <c:strRef>
              <c:f>Sheet1!$A$2:$A$11</c:f>
              <c:strCache>
                <c:ptCount val="10"/>
                <c:pt idx="0">
                  <c:v>empty</c:v>
                </c:pt>
                <c:pt idx="1">
                  <c:v>ocellated
turkey</c:v>
                </c:pt>
                <c:pt idx="2">
                  <c:v>great
curassow</c:v>
                </c:pt>
                <c:pt idx="3">
                  <c:v>white-lipped
peccary</c:v>
                </c:pt>
                <c:pt idx="4">
                  <c:v>black-fronted
duiker</c:v>
                </c:pt>
                <c:pt idx="5">
                  <c:v>agouti</c:v>
                </c:pt>
                <c:pt idx="6">
                  <c:v>ocelot</c:v>
                </c:pt>
                <c:pt idx="7">
                  <c:v>red brocket
deer</c:v>
                </c:pt>
                <c:pt idx="8">
                  <c:v>puma</c:v>
                </c:pt>
                <c:pt idx="9">
                  <c:v>gray fox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0.91700000000000004</c:v>
                </c:pt>
                <c:pt idx="1">
                  <c:v>0.56599999999999995</c:v>
                </c:pt>
                <c:pt idx="2">
                  <c:v>0.69299999999999995</c:v>
                </c:pt>
                <c:pt idx="3">
                  <c:v>0.59299999999999997</c:v>
                </c:pt>
                <c:pt idx="4">
                  <c:v>0.94099999999999995</c:v>
                </c:pt>
                <c:pt idx="5">
                  <c:v>0.35299999999999998</c:v>
                </c:pt>
                <c:pt idx="6">
                  <c:v>0.63100000000000001</c:v>
                </c:pt>
                <c:pt idx="7">
                  <c:v>0.21099999999999999</c:v>
                </c:pt>
                <c:pt idx="8">
                  <c:v>0.31</c:v>
                </c:pt>
                <c:pt idx="9">
                  <c:v>0.21199999999999999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BDA-472A-A8FB-CB160C3BDE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BioCLIP + MegaDetector</c:v>
                </c:pt>
              </c:strCache>
            </c:strRef>
          </c:tx>
          <c:spPr>
            <a:solidFill>
              <a:srgbClr val="7A9A7E"/>
            </a:solidFill>
            <a:ln>
              <a:noFill/>
            </a:ln>
          </c:spPr>
          <c:invertIfNegative val="1"/>
          <c:cat>
            <c:strRef>
              <c:f>Sheet1!$A$2:$A$11</c:f>
              <c:strCache>
                <c:ptCount val="10"/>
                <c:pt idx="0">
                  <c:v>empty</c:v>
                </c:pt>
                <c:pt idx="1">
                  <c:v>ocellated
turkey</c:v>
                </c:pt>
                <c:pt idx="2">
                  <c:v>great
curassow</c:v>
                </c:pt>
                <c:pt idx="3">
                  <c:v>white-lipped
peccary</c:v>
                </c:pt>
                <c:pt idx="4">
                  <c:v>black-fronted
duiker</c:v>
                </c:pt>
                <c:pt idx="5">
                  <c:v>agouti</c:v>
                </c:pt>
                <c:pt idx="6">
                  <c:v>ocelot</c:v>
                </c:pt>
                <c:pt idx="7">
                  <c:v>red brocket
deer</c:v>
                </c:pt>
                <c:pt idx="8">
                  <c:v>puma</c:v>
                </c:pt>
                <c:pt idx="9">
                  <c:v>gray fox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0.94799999999999995</c:v>
                </c:pt>
                <c:pt idx="1">
                  <c:v>0.71499999999999997</c:v>
                </c:pt>
                <c:pt idx="2">
                  <c:v>0.81799999999999995</c:v>
                </c:pt>
                <c:pt idx="3">
                  <c:v>0.75800000000000001</c:v>
                </c:pt>
                <c:pt idx="4">
                  <c:v>0.88900000000000001</c:v>
                </c:pt>
                <c:pt idx="5">
                  <c:v>0.39900000000000002</c:v>
                </c:pt>
                <c:pt idx="6">
                  <c:v>0.77</c:v>
                </c:pt>
                <c:pt idx="7">
                  <c:v>0.45</c:v>
                </c:pt>
                <c:pt idx="8">
                  <c:v>0.38300000000000001</c:v>
                </c:pt>
                <c:pt idx="9">
                  <c:v>0.49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BDA-472A-A8FB-CB160C3BDED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SpeciesNet + MLP (final)</c:v>
                </c:pt>
              </c:strCache>
            </c:strRef>
          </c:tx>
          <c:spPr>
            <a:solidFill>
              <a:srgbClr val="B5451B"/>
            </a:solidFill>
            <a:ln>
              <a:noFill/>
            </a:ln>
          </c:spPr>
          <c:invertIfNegative val="1"/>
          <c:cat>
            <c:strRef>
              <c:f>Sheet1!$A$2:$A$11</c:f>
              <c:strCache>
                <c:ptCount val="10"/>
                <c:pt idx="0">
                  <c:v>empty</c:v>
                </c:pt>
                <c:pt idx="1">
                  <c:v>ocellated
turkey</c:v>
                </c:pt>
                <c:pt idx="2">
                  <c:v>great
curassow</c:v>
                </c:pt>
                <c:pt idx="3">
                  <c:v>white-lipped
peccary</c:v>
                </c:pt>
                <c:pt idx="4">
                  <c:v>black-fronted
duiker</c:v>
                </c:pt>
                <c:pt idx="5">
                  <c:v>agouti</c:v>
                </c:pt>
                <c:pt idx="6">
                  <c:v>ocelot</c:v>
                </c:pt>
                <c:pt idx="7">
                  <c:v>red brocket
deer</c:v>
                </c:pt>
                <c:pt idx="8">
                  <c:v>puma</c:v>
                </c:pt>
                <c:pt idx="9">
                  <c:v>gray fox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0.57799999999999996</c:v>
                </c:pt>
                <c:pt idx="1">
                  <c:v>0.84199999999999997</c:v>
                </c:pt>
                <c:pt idx="2">
                  <c:v>0.93400000000000005</c:v>
                </c:pt>
                <c:pt idx="3">
                  <c:v>0.83099999999999996</c:v>
                </c:pt>
                <c:pt idx="4">
                  <c:v>0.89600000000000002</c:v>
                </c:pt>
                <c:pt idx="5">
                  <c:v>0.54900000000000004</c:v>
                </c:pt>
                <c:pt idx="6">
                  <c:v>0.76500000000000001</c:v>
                </c:pt>
                <c:pt idx="7">
                  <c:v>0.70399999999999996</c:v>
                </c:pt>
                <c:pt idx="8">
                  <c:v>0.61</c:v>
                </c:pt>
                <c:pt idx="9">
                  <c:v>0.63400000000000001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0BDA-472A-A8FB-CB160C3BDE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BDB5A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4DFD4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300">
          <a:solidFill>
            <a:srgbClr val="5F5C5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86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Group 10 final presentation: automatic species identification for camera-trap images, evaluated on cameras the model has never seen.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Context from our proposal: KARR's camera network and the manual-review bottleneck. The key word in our question is 'never seen' - that shapes every evaluation choice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operational costs from our proposal. The fix has to generalise to new camera locations.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iWildCam is our declared stand-in for KARR data. The ood_val split is the one that matters: 29 cameras whose backgrounds the model never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Headline numbers from our EDA notebook on the full release. Each tile ends with the design decision it forced - the rest of the deck follows from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Seconds per decision and the filter's operating point are assumptions; the EDA shows the conclusion holds from 2 to 8 seconds. KARR numbers are planning figures, not forecasts.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EDA proposed a 65-species list covering 94% of animal photos. For modelling we narrowed to the top 10 so every class has enough unseen-camera test images to score reliably.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Clocks are local camera time with no timezone correction, so the bands are approximate; the infrared flag is a more reliable darkness signal than the clock.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biggest shift is which species live in front of the camera, not how the photos look. That prior shift is why class-balanced training matters more than appearance tricks.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why accuracy alone misleads here. Contested cameras = sites where two or more of our classes appear; only there does the model have to actually look at the animal.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pipeline every final model shares. Be upfront that we changed plan from the proposal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keeps the promise in our proposal: split by camera station and report F1 per species, not one overall accuracy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Order is chronological. Each step was chosen because of what the previous one got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deltas on the right: tuning a model that looks at the whole scene bought very little; changing what the model sees bought a 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Full numbers for reference. The side panel answers the 'which ML model is better' question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Selected on held-out cameras, not on the test split. The 'everything' ensemble later scored 0.922 on test, but picking it would have meant peeking; the honest choice cost 0.014.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final model wins on 8 of 10 classes. The price is the empty class: it over-predicts 'blank', which is a crop problem more than a model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lessons, each backed by a number from our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the answer to our question from slide 3: yes, on never-seen cameras, with an honest 0.908 per burst - and we know exactly where the remaining errors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jpe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0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3.xml"/><Relationship Id="rId5" Type="http://schemas.openxmlformats.org/officeDocument/2006/relationships/image" Target="../media/image32.svg"/><Relationship Id="rId4" Type="http://schemas.openxmlformats.org/officeDocument/2006/relationships/image" Target="../media/image31.sv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17.png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0.jpe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5" Type="http://schemas.openxmlformats.org/officeDocument/2006/relationships/image" Target="../media/image34.svg"/><Relationship Id="rId10" Type="http://schemas.openxmlformats.org/officeDocument/2006/relationships/image" Target="../media/image36.png"/><Relationship Id="rId4" Type="http://schemas.openxmlformats.org/officeDocument/2006/relationships/image" Target="../media/image31.svg"/><Relationship Id="rId9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0.jpeg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5" Type="http://schemas.openxmlformats.org/officeDocument/2006/relationships/image" Target="../media/image34.svg"/><Relationship Id="rId10" Type="http://schemas.openxmlformats.org/officeDocument/2006/relationships/image" Target="../media/image25.png"/><Relationship Id="rId4" Type="http://schemas.openxmlformats.org/officeDocument/2006/relationships/image" Target="../media/image31.sv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1.jpe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13.png"/><Relationship Id="rId10" Type="http://schemas.openxmlformats.org/officeDocument/2006/relationships/image" Target="../media/image42.png"/><Relationship Id="rId4" Type="http://schemas.openxmlformats.org/officeDocument/2006/relationships/image" Target="../media/image12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7" Type="http://schemas.openxmlformats.org/officeDocument/2006/relationships/chart" Target="../charts/chart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5" Type="http://schemas.openxmlformats.org/officeDocument/2006/relationships/image" Target="../media/image34.svg"/><Relationship Id="rId4" Type="http://schemas.openxmlformats.org/officeDocument/2006/relationships/image" Target="../media/image3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svg"/><Relationship Id="rId4" Type="http://schemas.openxmlformats.org/officeDocument/2006/relationships/image" Target="../media/image3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48.png"/><Relationship Id="rId4" Type="http://schemas.openxmlformats.org/officeDocument/2006/relationships/chart" Target="../charts/chart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1.jpe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2400" y="-24452"/>
            <a:ext cx="18449499" cy="10311452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418389" y="2845916"/>
            <a:ext cx="447675" cy="2581275"/>
          </a:xfrm>
          <a:custGeom>
            <a:avLst/>
            <a:gdLst/>
            <a:ahLst/>
            <a:cxnLst/>
            <a:rect l="l" t="t" r="r" b="b"/>
            <a:pathLst>
              <a:path w="447675" h="2581275">
                <a:moveTo>
                  <a:pt x="0" y="0"/>
                </a:moveTo>
                <a:lnTo>
                  <a:pt x="447675" y="0"/>
                </a:lnTo>
                <a:lnTo>
                  <a:pt x="44767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1060513" y="3392583"/>
            <a:ext cx="15544800" cy="1105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92"/>
              </a:lnSpc>
            </a:pPr>
            <a:r>
              <a:rPr lang="en-US" sz="8292" b="1" spc="-248" dirty="0">
                <a:solidFill>
                  <a:srgbClr val="B5451B"/>
                </a:solidFill>
                <a:latin typeface="Inter Bold"/>
                <a:ea typeface="Inter Bold"/>
                <a:cs typeface="Inter Bold"/>
                <a:sym typeface="Inter Bold"/>
              </a:rPr>
              <a:t>Wildlife reserve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6717" y="4495718"/>
            <a:ext cx="15544800" cy="857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8"/>
              </a:lnSpc>
            </a:pPr>
            <a:r>
              <a:rPr lang="en-US" sz="6378" b="1" spc="-191" dirty="0">
                <a:solidFill>
                  <a:srgbClr val="B5451B"/>
                </a:solidFill>
                <a:latin typeface="Inter Bold"/>
                <a:ea typeface="Inter Bold"/>
                <a:cs typeface="Inter Bold"/>
                <a:sym typeface="Inter Bold"/>
              </a:rPr>
              <a:t>Control and Detection System</a:t>
            </a:r>
          </a:p>
        </p:txBody>
      </p:sp>
      <p:sp>
        <p:nvSpPr>
          <p:cNvPr id="6" name="Freeform 6"/>
          <p:cNvSpPr/>
          <p:nvPr/>
        </p:nvSpPr>
        <p:spPr>
          <a:xfrm>
            <a:off x="876300" y="5353050"/>
            <a:ext cx="8067675" cy="219075"/>
          </a:xfrm>
          <a:custGeom>
            <a:avLst/>
            <a:gdLst/>
            <a:ahLst/>
            <a:cxnLst/>
            <a:rect l="l" t="t" r="r" b="b"/>
            <a:pathLst>
              <a:path w="8067675" h="219075">
                <a:moveTo>
                  <a:pt x="0" y="0"/>
                </a:moveTo>
                <a:lnTo>
                  <a:pt x="8067675" y="0"/>
                </a:lnTo>
                <a:lnTo>
                  <a:pt x="806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Subtitle"/>
          <p:cNvSpPr txBox="1"/>
          <p:nvPr/>
        </p:nvSpPr>
        <p:spPr>
          <a:xfrm>
            <a:off x="1078992" y="5806440"/>
            <a:ext cx="12801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 i="0">
                <a:solidFill>
                  <a:srgbClr val="5F5C55"/>
                </a:solidFill>
                <a:latin typeface="Calibri"/>
              </a:rPr>
              <a:t>Final Presentation  ·  Group 10  ·  Species identification on iWildCam 2020 (WILDS)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9" r="-6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3287626" y="5530575"/>
            <a:ext cx="11564726" cy="4755994"/>
          </a:xfrm>
          <a:custGeom>
            <a:avLst/>
            <a:gdLst/>
            <a:ahLst/>
            <a:cxnLst/>
            <a:rect l="l" t="t" r="r" b="b"/>
            <a:pathLst>
              <a:path w="11564726" h="4755994">
                <a:moveTo>
                  <a:pt x="0" y="0"/>
                </a:moveTo>
                <a:lnTo>
                  <a:pt x="11564726" y="0"/>
                </a:lnTo>
                <a:lnTo>
                  <a:pt x="11564726" y="4755993"/>
                </a:lnTo>
                <a:lnTo>
                  <a:pt x="0" y="47559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4291932" y="2073538"/>
            <a:ext cx="13435932" cy="5525527"/>
          </a:xfrm>
          <a:custGeom>
            <a:avLst/>
            <a:gdLst/>
            <a:ahLst/>
            <a:cxnLst/>
            <a:rect l="l" t="t" r="r" b="b"/>
            <a:pathLst>
              <a:path w="13435932" h="5525527">
                <a:moveTo>
                  <a:pt x="0" y="0"/>
                </a:moveTo>
                <a:lnTo>
                  <a:pt x="13435932" y="0"/>
                </a:lnTo>
                <a:lnTo>
                  <a:pt x="13435932" y="5525527"/>
                </a:lnTo>
                <a:lnTo>
                  <a:pt x="0" y="55255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800000">
            <a:off x="9976112" y="1376273"/>
            <a:ext cx="11564726" cy="4755994"/>
          </a:xfrm>
          <a:custGeom>
            <a:avLst/>
            <a:gdLst/>
            <a:ahLst/>
            <a:cxnLst/>
            <a:rect l="l" t="t" r="r" b="b"/>
            <a:pathLst>
              <a:path w="11564726" h="4755994">
                <a:moveTo>
                  <a:pt x="0" y="0"/>
                </a:moveTo>
                <a:lnTo>
                  <a:pt x="11564726" y="0"/>
                </a:lnTo>
                <a:lnTo>
                  <a:pt x="11564726" y="4755993"/>
                </a:lnTo>
                <a:lnTo>
                  <a:pt x="0" y="47559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63952" y="923925"/>
            <a:ext cx="9439012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2319" y="3347634"/>
            <a:ext cx="7898104" cy="1868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Senior Information Systems student specializing in AI Engineering, Machine Learning, and Data Analysis. Oracle Student Ambassador &amp; Mostaqbali Team Leader, former IEEE Student Branch President, and Head of Operations &amp; Quality at Tuwaiq Club. Former IT Intern at REANDA International, with experience in Business Analysis, AI integration, and project management. IBM Certified in Data Analysis.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22151" y="2837342"/>
            <a:ext cx="5486400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B545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Abdulrahman Bin </a:t>
            </a:r>
            <a:r>
              <a:rPr lang="en-US" sz="2000" b="1" dirty="0" err="1">
                <a:solidFill>
                  <a:srgbClr val="B545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shannar</a:t>
            </a:r>
            <a:endParaRPr lang="en-US" sz="2000" b="1" dirty="0">
              <a:solidFill>
                <a:srgbClr val="B5451B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426441" y="2997693"/>
            <a:ext cx="6594543" cy="249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Programmer With a Background in IT Technical Support, with extensive experience using various enterprise customer service software and platforms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Core Skills: Proficiency in corporate software, Troubleshooting, System Maintenance, SQL, C# (ASP.NET), and UX/UI Design.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Objective: Streamlining technical workflows, adapting quickly to company systems, and driving team success.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321144" y="2535717"/>
            <a:ext cx="412541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B545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Mansour Almutairi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24196" y="6929272"/>
            <a:ext cx="4125411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B545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Muhannad Qahl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80943" y="7398536"/>
            <a:ext cx="7772350" cy="2206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  <a:spcBef>
                <a:spcPct val="0"/>
              </a:spcBef>
            </a:pPr>
            <a:r>
              <a:rPr lang="en-US" sz="2121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 Data Analytics professional   with a strong interest in Data Analytics and Business Intelligence. I completed the Data Analytics Professional Program in power bi at King Saud University , where I strengthened my skills in analyzing data and transforming it into meaningful business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2" r="-3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481967" y="-731387"/>
            <a:ext cx="4106228" cy="4114800"/>
          </a:xfrm>
          <a:custGeom>
            <a:avLst/>
            <a:gdLst/>
            <a:ahLst/>
            <a:cxnLst/>
            <a:rect l="l" t="t" r="r" b="b"/>
            <a:pathLst>
              <a:path w="4106228" h="4114800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3602405" y="2040264"/>
            <a:ext cx="6736946" cy="7217659"/>
            <a:chOff x="0" y="0"/>
            <a:chExt cx="2456180" cy="2631440"/>
          </a:xfrm>
        </p:grpSpPr>
        <p:sp>
          <p:nvSpPr>
            <p:cNvPr id="5" name="Freeform 5"/>
            <p:cNvSpPr/>
            <p:nvPr/>
          </p:nvSpPr>
          <p:spPr>
            <a:xfrm>
              <a:off x="-5080" y="1016"/>
              <a:ext cx="2454910" cy="2635504"/>
            </a:xfrm>
            <a:custGeom>
              <a:avLst/>
              <a:gdLst/>
              <a:ahLst/>
              <a:cxnLst/>
              <a:rect l="l" t="t" r="r" b="b"/>
              <a:pathLst>
                <a:path w="2454910" h="2635504">
                  <a:moveTo>
                    <a:pt x="2263140" y="514604"/>
                  </a:moveTo>
                  <a:cubicBezTo>
                    <a:pt x="2256790" y="513334"/>
                    <a:pt x="2251710" y="512064"/>
                    <a:pt x="2245360" y="509524"/>
                  </a:cubicBezTo>
                  <a:cubicBezTo>
                    <a:pt x="2252980" y="512064"/>
                    <a:pt x="2259330" y="513334"/>
                    <a:pt x="2263140" y="514604"/>
                  </a:cubicBezTo>
                  <a:close/>
                  <a:moveTo>
                    <a:pt x="196850" y="782574"/>
                  </a:moveTo>
                  <a:cubicBezTo>
                    <a:pt x="224790" y="799084"/>
                    <a:pt x="255270" y="815594"/>
                    <a:pt x="283210" y="828294"/>
                  </a:cubicBezTo>
                  <a:cubicBezTo>
                    <a:pt x="311150" y="840994"/>
                    <a:pt x="337820" y="849884"/>
                    <a:pt x="355600" y="852424"/>
                  </a:cubicBezTo>
                  <a:cubicBezTo>
                    <a:pt x="393700" y="863854"/>
                    <a:pt x="370840" y="904494"/>
                    <a:pt x="379730" y="936244"/>
                  </a:cubicBezTo>
                  <a:cubicBezTo>
                    <a:pt x="408940" y="917194"/>
                    <a:pt x="433070" y="943864"/>
                    <a:pt x="462280" y="924814"/>
                  </a:cubicBezTo>
                  <a:cubicBezTo>
                    <a:pt x="463550" y="929894"/>
                    <a:pt x="488950" y="927354"/>
                    <a:pt x="519430" y="924814"/>
                  </a:cubicBezTo>
                  <a:cubicBezTo>
                    <a:pt x="549910" y="922274"/>
                    <a:pt x="586740" y="915924"/>
                    <a:pt x="610870" y="910844"/>
                  </a:cubicBezTo>
                  <a:cubicBezTo>
                    <a:pt x="610870" y="910844"/>
                    <a:pt x="614680" y="907034"/>
                    <a:pt x="623570" y="901954"/>
                  </a:cubicBezTo>
                  <a:cubicBezTo>
                    <a:pt x="632460" y="896874"/>
                    <a:pt x="648970" y="890524"/>
                    <a:pt x="673100" y="886714"/>
                  </a:cubicBezTo>
                  <a:cubicBezTo>
                    <a:pt x="689610" y="884174"/>
                    <a:pt x="687070" y="872744"/>
                    <a:pt x="684530" y="862584"/>
                  </a:cubicBezTo>
                  <a:cubicBezTo>
                    <a:pt x="687070" y="872744"/>
                    <a:pt x="687070" y="872744"/>
                    <a:pt x="688340" y="884174"/>
                  </a:cubicBezTo>
                  <a:cubicBezTo>
                    <a:pt x="699770" y="860044"/>
                    <a:pt x="736600" y="875284"/>
                    <a:pt x="750570" y="861314"/>
                  </a:cubicBezTo>
                  <a:cubicBezTo>
                    <a:pt x="753110" y="871474"/>
                    <a:pt x="753110" y="871474"/>
                    <a:pt x="754380" y="882904"/>
                  </a:cubicBezTo>
                  <a:cubicBezTo>
                    <a:pt x="762000" y="876554"/>
                    <a:pt x="769620" y="871474"/>
                    <a:pt x="777240" y="868934"/>
                  </a:cubicBezTo>
                  <a:cubicBezTo>
                    <a:pt x="784860" y="866394"/>
                    <a:pt x="793750" y="865124"/>
                    <a:pt x="801370" y="865124"/>
                  </a:cubicBezTo>
                  <a:cubicBezTo>
                    <a:pt x="817880" y="863854"/>
                    <a:pt x="834390" y="863854"/>
                    <a:pt x="849630" y="856234"/>
                  </a:cubicBezTo>
                  <a:cubicBezTo>
                    <a:pt x="850900" y="866394"/>
                    <a:pt x="850900" y="866394"/>
                    <a:pt x="853440" y="877824"/>
                  </a:cubicBezTo>
                  <a:cubicBezTo>
                    <a:pt x="869950" y="875284"/>
                    <a:pt x="885190" y="872744"/>
                    <a:pt x="886460" y="884174"/>
                  </a:cubicBezTo>
                  <a:cubicBezTo>
                    <a:pt x="887730" y="894334"/>
                    <a:pt x="887730" y="894334"/>
                    <a:pt x="889000" y="905764"/>
                  </a:cubicBezTo>
                  <a:cubicBezTo>
                    <a:pt x="897890" y="909574"/>
                    <a:pt x="909320" y="905764"/>
                    <a:pt x="919480" y="901954"/>
                  </a:cubicBezTo>
                  <a:cubicBezTo>
                    <a:pt x="929640" y="899414"/>
                    <a:pt x="937260" y="898144"/>
                    <a:pt x="938530" y="909574"/>
                  </a:cubicBezTo>
                  <a:cubicBezTo>
                    <a:pt x="937260" y="899414"/>
                    <a:pt x="937260" y="899414"/>
                    <a:pt x="935990" y="887984"/>
                  </a:cubicBezTo>
                  <a:cubicBezTo>
                    <a:pt x="1000760" y="881634"/>
                    <a:pt x="1049020" y="885444"/>
                    <a:pt x="1098550" y="893064"/>
                  </a:cubicBezTo>
                  <a:cubicBezTo>
                    <a:pt x="1131570" y="901954"/>
                    <a:pt x="1165860" y="905764"/>
                    <a:pt x="1200150" y="908304"/>
                  </a:cubicBezTo>
                  <a:cubicBezTo>
                    <a:pt x="1235710" y="910844"/>
                    <a:pt x="1271270" y="910844"/>
                    <a:pt x="1308100" y="908304"/>
                  </a:cubicBezTo>
                  <a:cubicBezTo>
                    <a:pt x="1381760" y="905764"/>
                    <a:pt x="1456690" y="894334"/>
                    <a:pt x="1530350" y="889254"/>
                  </a:cubicBezTo>
                  <a:cubicBezTo>
                    <a:pt x="1546860" y="890524"/>
                    <a:pt x="1563370" y="868934"/>
                    <a:pt x="1549400" y="847344"/>
                  </a:cubicBezTo>
                  <a:cubicBezTo>
                    <a:pt x="1565910" y="848614"/>
                    <a:pt x="1582420" y="848614"/>
                    <a:pt x="1597660" y="849884"/>
                  </a:cubicBezTo>
                  <a:cubicBezTo>
                    <a:pt x="1629410" y="852424"/>
                    <a:pt x="1616710" y="819404"/>
                    <a:pt x="1648460" y="821944"/>
                  </a:cubicBezTo>
                  <a:cubicBezTo>
                    <a:pt x="1781810" y="805434"/>
                    <a:pt x="1913890" y="827024"/>
                    <a:pt x="2043430" y="854964"/>
                  </a:cubicBezTo>
                  <a:lnTo>
                    <a:pt x="2139950" y="877824"/>
                  </a:lnTo>
                  <a:cubicBezTo>
                    <a:pt x="2171700" y="885444"/>
                    <a:pt x="2203450" y="895604"/>
                    <a:pt x="2236470" y="903224"/>
                  </a:cubicBezTo>
                  <a:cubicBezTo>
                    <a:pt x="2252980" y="907034"/>
                    <a:pt x="2268220" y="910844"/>
                    <a:pt x="2284730" y="914654"/>
                  </a:cubicBezTo>
                  <a:lnTo>
                    <a:pt x="2332990" y="927354"/>
                  </a:lnTo>
                  <a:cubicBezTo>
                    <a:pt x="2364740" y="934974"/>
                    <a:pt x="2397760" y="942594"/>
                    <a:pt x="2430780" y="947674"/>
                  </a:cubicBezTo>
                  <a:cubicBezTo>
                    <a:pt x="2400300" y="932434"/>
                    <a:pt x="2374900" y="917194"/>
                    <a:pt x="2348230" y="903224"/>
                  </a:cubicBezTo>
                  <a:cubicBezTo>
                    <a:pt x="2335530" y="896874"/>
                    <a:pt x="2321560" y="890524"/>
                    <a:pt x="2307590" y="885444"/>
                  </a:cubicBezTo>
                  <a:cubicBezTo>
                    <a:pt x="2293620" y="880364"/>
                    <a:pt x="2277110" y="877824"/>
                    <a:pt x="2260600" y="875284"/>
                  </a:cubicBezTo>
                  <a:cubicBezTo>
                    <a:pt x="2263140" y="865124"/>
                    <a:pt x="2269490" y="843534"/>
                    <a:pt x="2252980" y="839724"/>
                  </a:cubicBezTo>
                  <a:cubicBezTo>
                    <a:pt x="2228850" y="830834"/>
                    <a:pt x="2203450" y="823214"/>
                    <a:pt x="2178050" y="816864"/>
                  </a:cubicBezTo>
                  <a:cubicBezTo>
                    <a:pt x="2152650" y="810514"/>
                    <a:pt x="2127250" y="805434"/>
                    <a:pt x="2103120" y="800354"/>
                  </a:cubicBezTo>
                  <a:cubicBezTo>
                    <a:pt x="2078990" y="794004"/>
                    <a:pt x="2057400" y="787654"/>
                    <a:pt x="2039620" y="780034"/>
                  </a:cubicBezTo>
                  <a:cubicBezTo>
                    <a:pt x="2020570" y="771144"/>
                    <a:pt x="2005330" y="762254"/>
                    <a:pt x="1995170" y="749554"/>
                  </a:cubicBezTo>
                  <a:cubicBezTo>
                    <a:pt x="1979930" y="735584"/>
                    <a:pt x="1969770" y="701294"/>
                    <a:pt x="1918970" y="692404"/>
                  </a:cubicBezTo>
                  <a:lnTo>
                    <a:pt x="1969770" y="701294"/>
                  </a:lnTo>
                  <a:cubicBezTo>
                    <a:pt x="1971040" y="691134"/>
                    <a:pt x="1974850" y="669544"/>
                    <a:pt x="1974850" y="669544"/>
                  </a:cubicBezTo>
                  <a:cubicBezTo>
                    <a:pt x="1908810" y="645414"/>
                    <a:pt x="1823720" y="623824"/>
                    <a:pt x="1755140" y="604774"/>
                  </a:cubicBezTo>
                  <a:cubicBezTo>
                    <a:pt x="1755140" y="604774"/>
                    <a:pt x="1757680" y="583184"/>
                    <a:pt x="1758950" y="573024"/>
                  </a:cubicBezTo>
                  <a:lnTo>
                    <a:pt x="1723390" y="569214"/>
                  </a:lnTo>
                  <a:cubicBezTo>
                    <a:pt x="1717040" y="548894"/>
                    <a:pt x="1723390" y="536194"/>
                    <a:pt x="1738630" y="528574"/>
                  </a:cubicBezTo>
                  <a:cubicBezTo>
                    <a:pt x="1746250" y="524764"/>
                    <a:pt x="1756410" y="520954"/>
                    <a:pt x="1767840" y="519684"/>
                  </a:cubicBezTo>
                  <a:cubicBezTo>
                    <a:pt x="1779270" y="518414"/>
                    <a:pt x="1793240" y="517144"/>
                    <a:pt x="1807210" y="517144"/>
                  </a:cubicBezTo>
                  <a:cubicBezTo>
                    <a:pt x="1835150" y="517144"/>
                    <a:pt x="1868170" y="519684"/>
                    <a:pt x="1898650" y="520954"/>
                  </a:cubicBezTo>
                  <a:cubicBezTo>
                    <a:pt x="1906270" y="520954"/>
                    <a:pt x="1913890" y="522224"/>
                    <a:pt x="1921510" y="522224"/>
                  </a:cubicBezTo>
                  <a:cubicBezTo>
                    <a:pt x="1929130" y="523494"/>
                    <a:pt x="1935480" y="523494"/>
                    <a:pt x="1943100" y="524764"/>
                  </a:cubicBezTo>
                  <a:cubicBezTo>
                    <a:pt x="1957070" y="526034"/>
                    <a:pt x="1969770" y="527304"/>
                    <a:pt x="1981200" y="528574"/>
                  </a:cubicBezTo>
                  <a:cubicBezTo>
                    <a:pt x="1982470" y="518414"/>
                    <a:pt x="1986280" y="496824"/>
                    <a:pt x="1988820" y="485394"/>
                  </a:cubicBezTo>
                  <a:lnTo>
                    <a:pt x="1953260" y="479044"/>
                  </a:lnTo>
                  <a:lnTo>
                    <a:pt x="1957070" y="457454"/>
                  </a:lnTo>
                  <a:cubicBezTo>
                    <a:pt x="1983740" y="462534"/>
                    <a:pt x="2010410" y="466344"/>
                    <a:pt x="2035810" y="471424"/>
                  </a:cubicBezTo>
                  <a:cubicBezTo>
                    <a:pt x="2061210" y="476504"/>
                    <a:pt x="2086610" y="480314"/>
                    <a:pt x="2110740" y="485394"/>
                  </a:cubicBezTo>
                  <a:cubicBezTo>
                    <a:pt x="2134870" y="490474"/>
                    <a:pt x="2160270" y="495554"/>
                    <a:pt x="2185670" y="501904"/>
                  </a:cubicBezTo>
                  <a:cubicBezTo>
                    <a:pt x="2195830" y="504444"/>
                    <a:pt x="2205990" y="506984"/>
                    <a:pt x="2217420" y="508254"/>
                  </a:cubicBezTo>
                  <a:cubicBezTo>
                    <a:pt x="2207260" y="505714"/>
                    <a:pt x="2198370" y="504444"/>
                    <a:pt x="2192020" y="503174"/>
                  </a:cubicBezTo>
                  <a:cubicBezTo>
                    <a:pt x="2194560" y="493014"/>
                    <a:pt x="2197100" y="481584"/>
                    <a:pt x="2179320" y="477774"/>
                  </a:cubicBezTo>
                  <a:cubicBezTo>
                    <a:pt x="2197100" y="481584"/>
                    <a:pt x="2216150" y="486664"/>
                    <a:pt x="2236470" y="491744"/>
                  </a:cubicBezTo>
                  <a:cubicBezTo>
                    <a:pt x="2255520" y="496824"/>
                    <a:pt x="2275840" y="503174"/>
                    <a:pt x="2296160" y="508254"/>
                  </a:cubicBezTo>
                  <a:cubicBezTo>
                    <a:pt x="2336800" y="518414"/>
                    <a:pt x="2377440" y="526034"/>
                    <a:pt x="2415540" y="526034"/>
                  </a:cubicBezTo>
                  <a:cubicBezTo>
                    <a:pt x="2435860" y="520954"/>
                    <a:pt x="2428240" y="482854"/>
                    <a:pt x="2376170" y="458724"/>
                  </a:cubicBezTo>
                  <a:cubicBezTo>
                    <a:pt x="2349500" y="451104"/>
                    <a:pt x="2326640" y="446024"/>
                    <a:pt x="2303780" y="439674"/>
                  </a:cubicBezTo>
                  <a:cubicBezTo>
                    <a:pt x="2280920" y="433324"/>
                    <a:pt x="2258060" y="428244"/>
                    <a:pt x="2231390" y="421894"/>
                  </a:cubicBezTo>
                  <a:lnTo>
                    <a:pt x="2236470" y="400304"/>
                  </a:lnTo>
                  <a:cubicBezTo>
                    <a:pt x="2245360" y="402844"/>
                    <a:pt x="2255520" y="405384"/>
                    <a:pt x="2266950" y="407924"/>
                  </a:cubicBezTo>
                  <a:cubicBezTo>
                    <a:pt x="2277110" y="411734"/>
                    <a:pt x="2288540" y="415544"/>
                    <a:pt x="2299970" y="419354"/>
                  </a:cubicBezTo>
                  <a:cubicBezTo>
                    <a:pt x="2322830" y="426974"/>
                    <a:pt x="2345690" y="432054"/>
                    <a:pt x="2364740" y="432054"/>
                  </a:cubicBezTo>
                  <a:cubicBezTo>
                    <a:pt x="2386330" y="425704"/>
                    <a:pt x="2336800" y="391414"/>
                    <a:pt x="2357120" y="385064"/>
                  </a:cubicBezTo>
                  <a:cubicBezTo>
                    <a:pt x="2376170" y="390144"/>
                    <a:pt x="2393950" y="395224"/>
                    <a:pt x="2415540" y="388874"/>
                  </a:cubicBezTo>
                  <a:cubicBezTo>
                    <a:pt x="2387600" y="381254"/>
                    <a:pt x="2354580" y="376174"/>
                    <a:pt x="2322830" y="368554"/>
                  </a:cubicBezTo>
                  <a:cubicBezTo>
                    <a:pt x="2306320" y="364744"/>
                    <a:pt x="2289810" y="360934"/>
                    <a:pt x="2274570" y="357124"/>
                  </a:cubicBezTo>
                  <a:cubicBezTo>
                    <a:pt x="2259330" y="353314"/>
                    <a:pt x="2244090" y="348234"/>
                    <a:pt x="2230120" y="343154"/>
                  </a:cubicBezTo>
                  <a:cubicBezTo>
                    <a:pt x="2213610" y="327914"/>
                    <a:pt x="2197100" y="313944"/>
                    <a:pt x="2202180" y="292354"/>
                  </a:cubicBezTo>
                  <a:cubicBezTo>
                    <a:pt x="2178050" y="289814"/>
                    <a:pt x="2155190" y="284734"/>
                    <a:pt x="2134870" y="278384"/>
                  </a:cubicBezTo>
                  <a:cubicBezTo>
                    <a:pt x="2114550" y="272034"/>
                    <a:pt x="2094230" y="264414"/>
                    <a:pt x="2076450" y="254254"/>
                  </a:cubicBezTo>
                  <a:cubicBezTo>
                    <a:pt x="2040890" y="233934"/>
                    <a:pt x="2010410" y="207264"/>
                    <a:pt x="1986280" y="175514"/>
                  </a:cubicBezTo>
                  <a:cubicBezTo>
                    <a:pt x="1974850" y="157734"/>
                    <a:pt x="1915160" y="151384"/>
                    <a:pt x="1861820" y="146304"/>
                  </a:cubicBezTo>
                  <a:lnTo>
                    <a:pt x="1808480" y="131064"/>
                  </a:lnTo>
                  <a:cubicBezTo>
                    <a:pt x="1788160" y="125984"/>
                    <a:pt x="1766570" y="122174"/>
                    <a:pt x="1746250" y="117094"/>
                  </a:cubicBezTo>
                  <a:cubicBezTo>
                    <a:pt x="1724660" y="113284"/>
                    <a:pt x="1704340" y="108204"/>
                    <a:pt x="1682750" y="104394"/>
                  </a:cubicBezTo>
                  <a:cubicBezTo>
                    <a:pt x="1672590" y="101854"/>
                    <a:pt x="1661160" y="100584"/>
                    <a:pt x="1651000" y="98044"/>
                  </a:cubicBezTo>
                  <a:lnTo>
                    <a:pt x="1619250" y="94234"/>
                  </a:lnTo>
                  <a:cubicBezTo>
                    <a:pt x="1576070" y="89154"/>
                    <a:pt x="1532890" y="82804"/>
                    <a:pt x="1490980" y="78994"/>
                  </a:cubicBezTo>
                  <a:cubicBezTo>
                    <a:pt x="1447800" y="75184"/>
                    <a:pt x="1404620" y="72644"/>
                    <a:pt x="1361440" y="68834"/>
                  </a:cubicBezTo>
                  <a:cubicBezTo>
                    <a:pt x="1318260" y="65024"/>
                    <a:pt x="1275080" y="63754"/>
                    <a:pt x="1231900" y="62484"/>
                  </a:cubicBezTo>
                  <a:cubicBezTo>
                    <a:pt x="1188720" y="59944"/>
                    <a:pt x="1146810" y="57404"/>
                    <a:pt x="1103630" y="56134"/>
                  </a:cubicBezTo>
                  <a:cubicBezTo>
                    <a:pt x="1059180" y="49784"/>
                    <a:pt x="1017270" y="47244"/>
                    <a:pt x="975360" y="43434"/>
                  </a:cubicBezTo>
                  <a:cubicBezTo>
                    <a:pt x="933450" y="40894"/>
                    <a:pt x="891540" y="38354"/>
                    <a:pt x="850900" y="33274"/>
                  </a:cubicBezTo>
                  <a:cubicBezTo>
                    <a:pt x="840740" y="29464"/>
                    <a:pt x="824230" y="23114"/>
                    <a:pt x="807720" y="16764"/>
                  </a:cubicBezTo>
                  <a:cubicBezTo>
                    <a:pt x="791210" y="10414"/>
                    <a:pt x="774700" y="5334"/>
                    <a:pt x="764540" y="1524"/>
                  </a:cubicBezTo>
                  <a:cubicBezTo>
                    <a:pt x="596900" y="-9906"/>
                    <a:pt x="396240" y="44704"/>
                    <a:pt x="245110" y="106934"/>
                  </a:cubicBezTo>
                  <a:cubicBezTo>
                    <a:pt x="207010" y="123444"/>
                    <a:pt x="181610" y="164084"/>
                    <a:pt x="166370" y="200914"/>
                  </a:cubicBezTo>
                  <a:cubicBezTo>
                    <a:pt x="151130" y="237744"/>
                    <a:pt x="146050" y="270764"/>
                    <a:pt x="146050" y="270764"/>
                  </a:cubicBezTo>
                  <a:cubicBezTo>
                    <a:pt x="133350" y="297434"/>
                    <a:pt x="128270" y="344424"/>
                    <a:pt x="152400" y="359664"/>
                  </a:cubicBezTo>
                  <a:cubicBezTo>
                    <a:pt x="162560" y="359664"/>
                    <a:pt x="175260" y="357124"/>
                    <a:pt x="190500" y="354584"/>
                  </a:cubicBezTo>
                  <a:cubicBezTo>
                    <a:pt x="204470" y="353314"/>
                    <a:pt x="220980" y="350774"/>
                    <a:pt x="236220" y="350774"/>
                  </a:cubicBezTo>
                  <a:cubicBezTo>
                    <a:pt x="265430" y="349504"/>
                    <a:pt x="292100" y="353314"/>
                    <a:pt x="297180" y="374904"/>
                  </a:cubicBezTo>
                  <a:cubicBezTo>
                    <a:pt x="299720" y="385064"/>
                    <a:pt x="281940" y="390144"/>
                    <a:pt x="262890" y="395224"/>
                  </a:cubicBezTo>
                  <a:cubicBezTo>
                    <a:pt x="274320" y="437134"/>
                    <a:pt x="243840" y="534924"/>
                    <a:pt x="227330" y="541274"/>
                  </a:cubicBezTo>
                  <a:cubicBezTo>
                    <a:pt x="222250" y="553974"/>
                    <a:pt x="196850" y="584454"/>
                    <a:pt x="173990" y="614934"/>
                  </a:cubicBezTo>
                  <a:cubicBezTo>
                    <a:pt x="149860" y="645414"/>
                    <a:pt x="127000" y="675894"/>
                    <a:pt x="121920" y="688594"/>
                  </a:cubicBezTo>
                  <a:cubicBezTo>
                    <a:pt x="100330" y="711454"/>
                    <a:pt x="142240" y="748284"/>
                    <a:pt x="196850" y="782574"/>
                  </a:cubicBezTo>
                  <a:close/>
                  <a:moveTo>
                    <a:pt x="2217420" y="504444"/>
                  </a:moveTo>
                  <a:cubicBezTo>
                    <a:pt x="2226310" y="506984"/>
                    <a:pt x="2236470" y="508254"/>
                    <a:pt x="2246630" y="510794"/>
                  </a:cubicBezTo>
                  <a:cubicBezTo>
                    <a:pt x="2236470" y="508254"/>
                    <a:pt x="2226310" y="505714"/>
                    <a:pt x="2217420" y="504444"/>
                  </a:cubicBezTo>
                  <a:close/>
                  <a:moveTo>
                    <a:pt x="2330450" y="1845564"/>
                  </a:moveTo>
                  <a:cubicBezTo>
                    <a:pt x="2289810" y="1834134"/>
                    <a:pt x="2251710" y="1820164"/>
                    <a:pt x="2222500" y="1797304"/>
                  </a:cubicBezTo>
                  <a:cubicBezTo>
                    <a:pt x="2200910" y="1790954"/>
                    <a:pt x="2259330" y="1747774"/>
                    <a:pt x="2244090" y="1713484"/>
                  </a:cubicBezTo>
                  <a:cubicBezTo>
                    <a:pt x="2221230" y="1707134"/>
                    <a:pt x="2176780" y="1695704"/>
                    <a:pt x="2155190" y="1690624"/>
                  </a:cubicBezTo>
                  <a:cubicBezTo>
                    <a:pt x="2143760" y="1643634"/>
                    <a:pt x="2198370" y="1611884"/>
                    <a:pt x="2186940" y="1564894"/>
                  </a:cubicBezTo>
                  <a:cubicBezTo>
                    <a:pt x="2174240" y="1517904"/>
                    <a:pt x="2076450" y="1522984"/>
                    <a:pt x="2059940" y="1489964"/>
                  </a:cubicBezTo>
                  <a:cubicBezTo>
                    <a:pt x="2028190" y="1468374"/>
                    <a:pt x="2042160" y="1460754"/>
                    <a:pt x="2072640" y="1459484"/>
                  </a:cubicBezTo>
                  <a:cubicBezTo>
                    <a:pt x="2103120" y="1459484"/>
                    <a:pt x="2150110" y="1467104"/>
                    <a:pt x="2184400" y="1475994"/>
                  </a:cubicBezTo>
                  <a:cubicBezTo>
                    <a:pt x="2167890" y="1442974"/>
                    <a:pt x="2230120" y="1487424"/>
                    <a:pt x="2237740" y="1459484"/>
                  </a:cubicBezTo>
                  <a:cubicBezTo>
                    <a:pt x="2251710" y="1403604"/>
                    <a:pt x="2266950" y="1347724"/>
                    <a:pt x="2183130" y="1282954"/>
                  </a:cubicBezTo>
                  <a:cubicBezTo>
                    <a:pt x="2162810" y="1262634"/>
                    <a:pt x="2197100" y="1227074"/>
                    <a:pt x="2203450" y="1199134"/>
                  </a:cubicBezTo>
                  <a:cubicBezTo>
                    <a:pt x="1917700" y="1129284"/>
                    <a:pt x="1601470" y="1070864"/>
                    <a:pt x="1303020" y="1091184"/>
                  </a:cubicBezTo>
                  <a:cubicBezTo>
                    <a:pt x="1240790" y="1094994"/>
                    <a:pt x="1177290" y="1091184"/>
                    <a:pt x="1111250" y="1086104"/>
                  </a:cubicBezTo>
                  <a:cubicBezTo>
                    <a:pt x="1045210" y="1081024"/>
                    <a:pt x="979170" y="1072134"/>
                    <a:pt x="911860" y="1064514"/>
                  </a:cubicBezTo>
                  <a:cubicBezTo>
                    <a:pt x="878840" y="1060704"/>
                    <a:pt x="844550" y="1056894"/>
                    <a:pt x="811530" y="1054354"/>
                  </a:cubicBezTo>
                  <a:cubicBezTo>
                    <a:pt x="778510" y="1051814"/>
                    <a:pt x="745490" y="1050544"/>
                    <a:pt x="712470" y="1049274"/>
                  </a:cubicBezTo>
                  <a:cubicBezTo>
                    <a:pt x="646430" y="1046734"/>
                    <a:pt x="582930" y="1050544"/>
                    <a:pt x="521970" y="1060704"/>
                  </a:cubicBezTo>
                  <a:cubicBezTo>
                    <a:pt x="485140" y="1065784"/>
                    <a:pt x="436880" y="1055624"/>
                    <a:pt x="391160" y="1051814"/>
                  </a:cubicBezTo>
                  <a:cubicBezTo>
                    <a:pt x="345440" y="1048004"/>
                    <a:pt x="302260" y="1050544"/>
                    <a:pt x="278130" y="1087374"/>
                  </a:cubicBezTo>
                  <a:lnTo>
                    <a:pt x="350520" y="1087374"/>
                  </a:lnTo>
                  <a:cubicBezTo>
                    <a:pt x="313690" y="1107694"/>
                    <a:pt x="278130" y="1108964"/>
                    <a:pt x="241300" y="1106424"/>
                  </a:cubicBezTo>
                  <a:cubicBezTo>
                    <a:pt x="204470" y="1103884"/>
                    <a:pt x="168910" y="1096264"/>
                    <a:pt x="132080" y="1103884"/>
                  </a:cubicBezTo>
                  <a:cubicBezTo>
                    <a:pt x="133350" y="1133094"/>
                    <a:pt x="133350" y="1147064"/>
                    <a:pt x="109220" y="1162304"/>
                  </a:cubicBezTo>
                  <a:cubicBezTo>
                    <a:pt x="157480" y="1159764"/>
                    <a:pt x="228600" y="1145794"/>
                    <a:pt x="276860" y="1159764"/>
                  </a:cubicBezTo>
                  <a:lnTo>
                    <a:pt x="276860" y="1202944"/>
                  </a:lnTo>
                  <a:cubicBezTo>
                    <a:pt x="229870" y="1218184"/>
                    <a:pt x="157480" y="1188974"/>
                    <a:pt x="109220" y="1205484"/>
                  </a:cubicBezTo>
                  <a:cubicBezTo>
                    <a:pt x="109220" y="1219454"/>
                    <a:pt x="110490" y="1248664"/>
                    <a:pt x="110490" y="1262634"/>
                  </a:cubicBezTo>
                  <a:cubicBezTo>
                    <a:pt x="110490" y="1276604"/>
                    <a:pt x="87630" y="1277874"/>
                    <a:pt x="63500" y="1279144"/>
                  </a:cubicBezTo>
                  <a:cubicBezTo>
                    <a:pt x="87630" y="1277874"/>
                    <a:pt x="134620" y="1276604"/>
                    <a:pt x="157480" y="1276604"/>
                  </a:cubicBezTo>
                  <a:cubicBezTo>
                    <a:pt x="157480" y="1290574"/>
                    <a:pt x="158750" y="1319784"/>
                    <a:pt x="158750" y="1333754"/>
                  </a:cubicBezTo>
                  <a:cubicBezTo>
                    <a:pt x="158750" y="1347724"/>
                    <a:pt x="135890" y="1348994"/>
                    <a:pt x="111760" y="1350264"/>
                  </a:cubicBezTo>
                  <a:cubicBezTo>
                    <a:pt x="113030" y="1379474"/>
                    <a:pt x="90170" y="1408684"/>
                    <a:pt x="114300" y="1422654"/>
                  </a:cubicBezTo>
                  <a:cubicBezTo>
                    <a:pt x="137160" y="1421384"/>
                    <a:pt x="161290" y="1421384"/>
                    <a:pt x="184150" y="1421384"/>
                  </a:cubicBezTo>
                  <a:cubicBezTo>
                    <a:pt x="91440" y="1437894"/>
                    <a:pt x="48260" y="1511554"/>
                    <a:pt x="49530" y="1554734"/>
                  </a:cubicBezTo>
                  <a:cubicBezTo>
                    <a:pt x="72390" y="1539494"/>
                    <a:pt x="73660" y="1582674"/>
                    <a:pt x="95250" y="1567434"/>
                  </a:cubicBezTo>
                  <a:cubicBezTo>
                    <a:pt x="27940" y="1613154"/>
                    <a:pt x="-35560" y="1672844"/>
                    <a:pt x="54610" y="1684274"/>
                  </a:cubicBezTo>
                  <a:cubicBezTo>
                    <a:pt x="447040" y="1690624"/>
                    <a:pt x="842010" y="1705864"/>
                    <a:pt x="1238250" y="1745234"/>
                  </a:cubicBezTo>
                  <a:cubicBezTo>
                    <a:pt x="1470660" y="1768094"/>
                    <a:pt x="1704340" y="1798574"/>
                    <a:pt x="1934210" y="1840484"/>
                  </a:cubicBezTo>
                  <a:cubicBezTo>
                    <a:pt x="1742440" y="1837944"/>
                    <a:pt x="1554480" y="1855724"/>
                    <a:pt x="1358900" y="1855724"/>
                  </a:cubicBezTo>
                  <a:cubicBezTo>
                    <a:pt x="1271270" y="1895094"/>
                    <a:pt x="681990" y="1911604"/>
                    <a:pt x="530860" y="1895094"/>
                  </a:cubicBezTo>
                  <a:cubicBezTo>
                    <a:pt x="525780" y="1895094"/>
                    <a:pt x="521970" y="1896364"/>
                    <a:pt x="516890" y="1896364"/>
                  </a:cubicBezTo>
                  <a:cubicBezTo>
                    <a:pt x="434340" y="1891284"/>
                    <a:pt x="334010" y="1897634"/>
                    <a:pt x="264160" y="1931924"/>
                  </a:cubicBezTo>
                  <a:cubicBezTo>
                    <a:pt x="232410" y="1952244"/>
                    <a:pt x="199390" y="1977644"/>
                    <a:pt x="167640" y="2001774"/>
                  </a:cubicBezTo>
                  <a:cubicBezTo>
                    <a:pt x="182880" y="2015744"/>
                    <a:pt x="196850" y="2030984"/>
                    <a:pt x="208280" y="2044954"/>
                  </a:cubicBezTo>
                  <a:cubicBezTo>
                    <a:pt x="175260" y="2043684"/>
                    <a:pt x="142240" y="2041144"/>
                    <a:pt x="129540" y="2057654"/>
                  </a:cubicBezTo>
                  <a:cubicBezTo>
                    <a:pt x="59690" y="2095754"/>
                    <a:pt x="99060" y="2138934"/>
                    <a:pt x="125730" y="2198624"/>
                  </a:cubicBezTo>
                  <a:cubicBezTo>
                    <a:pt x="144780" y="2225294"/>
                    <a:pt x="119380" y="2264664"/>
                    <a:pt x="149860" y="2291334"/>
                  </a:cubicBezTo>
                  <a:cubicBezTo>
                    <a:pt x="128270" y="2290064"/>
                    <a:pt x="116840" y="2290064"/>
                    <a:pt x="95250" y="2287524"/>
                  </a:cubicBezTo>
                  <a:cubicBezTo>
                    <a:pt x="92710" y="2312924"/>
                    <a:pt x="162560" y="2274824"/>
                    <a:pt x="147320" y="2315464"/>
                  </a:cubicBezTo>
                  <a:cubicBezTo>
                    <a:pt x="125730" y="2305304"/>
                    <a:pt x="102870" y="2320544"/>
                    <a:pt x="80010" y="2319274"/>
                  </a:cubicBezTo>
                  <a:cubicBezTo>
                    <a:pt x="87630" y="2353564"/>
                    <a:pt x="156210" y="2331974"/>
                    <a:pt x="152400" y="2364994"/>
                  </a:cubicBezTo>
                  <a:cubicBezTo>
                    <a:pt x="140970" y="2372614"/>
                    <a:pt x="90170" y="2319274"/>
                    <a:pt x="86360" y="2361184"/>
                  </a:cubicBezTo>
                  <a:cubicBezTo>
                    <a:pt x="85090" y="2370074"/>
                    <a:pt x="107950" y="2371344"/>
                    <a:pt x="118110" y="2371344"/>
                  </a:cubicBezTo>
                  <a:cubicBezTo>
                    <a:pt x="50800" y="2384044"/>
                    <a:pt x="12700" y="2423414"/>
                    <a:pt x="74930" y="2469134"/>
                  </a:cubicBezTo>
                  <a:cubicBezTo>
                    <a:pt x="53340" y="2467864"/>
                    <a:pt x="22860" y="2450084"/>
                    <a:pt x="0" y="2456434"/>
                  </a:cubicBezTo>
                  <a:lnTo>
                    <a:pt x="0" y="2457704"/>
                  </a:lnTo>
                  <a:cubicBezTo>
                    <a:pt x="11430" y="2458974"/>
                    <a:pt x="30480" y="2467864"/>
                    <a:pt x="41910" y="2467864"/>
                  </a:cubicBezTo>
                  <a:cubicBezTo>
                    <a:pt x="29210" y="2466594"/>
                    <a:pt x="16510" y="2466594"/>
                    <a:pt x="3810" y="2465324"/>
                  </a:cubicBezTo>
                  <a:cubicBezTo>
                    <a:pt x="6350" y="2471674"/>
                    <a:pt x="7620" y="2476754"/>
                    <a:pt x="10160" y="2483104"/>
                  </a:cubicBezTo>
                  <a:cubicBezTo>
                    <a:pt x="20320" y="2488184"/>
                    <a:pt x="29210" y="2491994"/>
                    <a:pt x="39370" y="2493264"/>
                  </a:cubicBezTo>
                  <a:cubicBezTo>
                    <a:pt x="30480" y="2493264"/>
                    <a:pt x="22860" y="2491994"/>
                    <a:pt x="13970" y="2491994"/>
                  </a:cubicBezTo>
                  <a:cubicBezTo>
                    <a:pt x="20320" y="2505964"/>
                    <a:pt x="27940" y="2518664"/>
                    <a:pt x="35560" y="2531364"/>
                  </a:cubicBezTo>
                  <a:cubicBezTo>
                    <a:pt x="66040" y="2558034"/>
                    <a:pt x="95250" y="2597404"/>
                    <a:pt x="111760" y="2598674"/>
                  </a:cubicBezTo>
                  <a:cubicBezTo>
                    <a:pt x="245110" y="2617724"/>
                    <a:pt x="378460" y="2631694"/>
                    <a:pt x="511810" y="2635504"/>
                  </a:cubicBezTo>
                  <a:cubicBezTo>
                    <a:pt x="511810" y="2620264"/>
                    <a:pt x="505460" y="2605024"/>
                    <a:pt x="515620" y="2597404"/>
                  </a:cubicBezTo>
                  <a:cubicBezTo>
                    <a:pt x="549910" y="2583434"/>
                    <a:pt x="577850" y="2634234"/>
                    <a:pt x="613410" y="2620264"/>
                  </a:cubicBezTo>
                  <a:cubicBezTo>
                    <a:pt x="614680" y="2611374"/>
                    <a:pt x="614680" y="2603754"/>
                    <a:pt x="615950" y="2594864"/>
                  </a:cubicBezTo>
                  <a:cubicBezTo>
                    <a:pt x="642620" y="2605024"/>
                    <a:pt x="670560" y="2618994"/>
                    <a:pt x="699770" y="2630424"/>
                  </a:cubicBezTo>
                  <a:cubicBezTo>
                    <a:pt x="751840" y="2626614"/>
                    <a:pt x="805180" y="2621534"/>
                    <a:pt x="857250" y="2612644"/>
                  </a:cubicBezTo>
                  <a:cubicBezTo>
                    <a:pt x="855980" y="2603754"/>
                    <a:pt x="854710" y="2594864"/>
                    <a:pt x="861060" y="2592324"/>
                  </a:cubicBezTo>
                  <a:cubicBezTo>
                    <a:pt x="882650" y="2585974"/>
                    <a:pt x="913130" y="2594864"/>
                    <a:pt x="943610" y="2597404"/>
                  </a:cubicBezTo>
                  <a:cubicBezTo>
                    <a:pt x="948690" y="2596134"/>
                    <a:pt x="952500" y="2594864"/>
                    <a:pt x="957580" y="2593594"/>
                  </a:cubicBezTo>
                  <a:cubicBezTo>
                    <a:pt x="961390" y="2588514"/>
                    <a:pt x="962660" y="2579624"/>
                    <a:pt x="962660" y="2574544"/>
                  </a:cubicBezTo>
                  <a:cubicBezTo>
                    <a:pt x="976630" y="2575814"/>
                    <a:pt x="989330" y="2578354"/>
                    <a:pt x="1000760" y="2580894"/>
                  </a:cubicBezTo>
                  <a:cubicBezTo>
                    <a:pt x="1153160" y="2531364"/>
                    <a:pt x="1309370" y="2474214"/>
                    <a:pt x="1477010" y="2417064"/>
                  </a:cubicBezTo>
                  <a:cubicBezTo>
                    <a:pt x="1512570" y="2394204"/>
                    <a:pt x="1548130" y="2371344"/>
                    <a:pt x="1582420" y="2361184"/>
                  </a:cubicBezTo>
                  <a:cubicBezTo>
                    <a:pt x="1633220" y="2351024"/>
                    <a:pt x="1697990" y="2367534"/>
                    <a:pt x="1747520" y="2371344"/>
                  </a:cubicBezTo>
                  <a:cubicBezTo>
                    <a:pt x="1739900" y="2283714"/>
                    <a:pt x="1860550" y="2240534"/>
                    <a:pt x="1836420" y="2151634"/>
                  </a:cubicBezTo>
                  <a:cubicBezTo>
                    <a:pt x="1869440" y="2152904"/>
                    <a:pt x="1918970" y="2156714"/>
                    <a:pt x="1921510" y="2131314"/>
                  </a:cubicBezTo>
                  <a:cubicBezTo>
                    <a:pt x="1929130" y="2056384"/>
                    <a:pt x="1954530" y="1971294"/>
                    <a:pt x="2042160" y="1925574"/>
                  </a:cubicBezTo>
                  <a:cubicBezTo>
                    <a:pt x="2076450" y="1915414"/>
                    <a:pt x="2129790" y="1945894"/>
                    <a:pt x="2141220" y="1931924"/>
                  </a:cubicBezTo>
                  <a:cubicBezTo>
                    <a:pt x="2153920" y="1916684"/>
                    <a:pt x="2129790" y="1897634"/>
                    <a:pt x="2118360" y="1881124"/>
                  </a:cubicBezTo>
                  <a:cubicBezTo>
                    <a:pt x="2217420" y="1901444"/>
                    <a:pt x="2316480" y="1924304"/>
                    <a:pt x="2413000" y="1949704"/>
                  </a:cubicBezTo>
                  <a:cubicBezTo>
                    <a:pt x="2437130" y="1948434"/>
                    <a:pt x="2446020" y="1940814"/>
                    <a:pt x="2448560" y="1928114"/>
                  </a:cubicBezTo>
                  <a:cubicBezTo>
                    <a:pt x="2452370" y="1915414"/>
                    <a:pt x="2451100" y="1900174"/>
                    <a:pt x="2454910" y="1886204"/>
                  </a:cubicBezTo>
                  <a:cubicBezTo>
                    <a:pt x="2416810" y="1867154"/>
                    <a:pt x="2372360" y="1856994"/>
                    <a:pt x="2330450" y="1845564"/>
                  </a:cubicBezTo>
                  <a:close/>
                </a:path>
              </a:pathLst>
            </a:custGeom>
            <a:blipFill>
              <a:blip r:embed="rId5"/>
              <a:stretch>
                <a:fillRect l="-34836" r="-3483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-54007" y="6297244"/>
            <a:ext cx="5268174" cy="4315512"/>
          </a:xfrm>
          <a:custGeom>
            <a:avLst/>
            <a:gdLst/>
            <a:ahLst/>
            <a:cxnLst/>
            <a:rect l="l" t="t" r="r" b="b"/>
            <a:pathLst>
              <a:path w="5268174" h="4315512">
                <a:moveTo>
                  <a:pt x="0" y="0"/>
                </a:moveTo>
                <a:lnTo>
                  <a:pt x="5268174" y="0"/>
                </a:lnTo>
                <a:lnTo>
                  <a:pt x="5268174" y="4315512"/>
                </a:lnTo>
                <a:lnTo>
                  <a:pt x="0" y="4315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Section Header"/>
          <p:cNvSpPr txBox="1"/>
          <p:nvPr/>
        </p:nvSpPr>
        <p:spPr>
          <a:xfrm>
            <a:off x="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777240" indent="-388620" algn="l">
              <a:buFont typeface="Arial"/>
              <a:buChar char="•"/>
            </a:pPr>
            <a:r>
              <a:rPr sz="3600" b="1" i="0">
                <a:solidFill>
                  <a:srgbClr val="B5451B"/>
                </a:solidFill>
                <a:latin typeface="Cambria"/>
              </a:rPr>
              <a:t>Problem</a:t>
            </a:r>
          </a:p>
        </p:txBody>
      </p:sp>
      <p:sp>
        <p:nvSpPr>
          <p:cNvPr id="8" name="Slide Title"/>
          <p:cNvSpPr txBox="1"/>
          <p:nvPr/>
        </p:nvSpPr>
        <p:spPr>
          <a:xfrm>
            <a:off x="777240" y="1188720"/>
            <a:ext cx="120700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1A1A17"/>
                </a:solidFill>
                <a:latin typeface="Cambria"/>
              </a:rPr>
              <a:t>A live monitoring program — and a photo backlog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179576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3A3833"/>
                </a:solidFill>
                <a:latin typeface="Calibri"/>
              </a:rPr>
              <a:t>The King Abdulaziz Royal Reserve (KARR) runs an active camera-trap program across Riyadh and Eastern-region habitats. Every trigger produces a burst of photos, most of them empty, and every photo still needs a person to look at it before a sighting counts.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11880"/>
            <a:ext cx="3749039" cy="201168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Ins="274320" bIns="182880" rtlCol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B5451B"/>
                </a:solidFill>
                <a:latin typeface="Cambria"/>
              </a:rPr>
              <a:t>103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5F5C55"/>
                </a:solidFill>
                <a:latin typeface="Calibri"/>
              </a:rPr>
              <a:t>field cameras deployed across the reserve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599" y="3611880"/>
            <a:ext cx="3749039" cy="201168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Ins="274320" bIns="182880" rtlCol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B5451B"/>
                </a:solidFill>
                <a:latin typeface="Cambria"/>
              </a:rPr>
              <a:t>28,000 km²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5F5C55"/>
                </a:solidFill>
                <a:latin typeface="Calibri"/>
              </a:rPr>
              <a:t>reserve area in Riyadh &amp; the Eastern Province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59" y="3611880"/>
            <a:ext cx="3749039" cy="201168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Ins="274320" bIns="182880" rtlCol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B5451B"/>
                </a:solidFill>
                <a:latin typeface="Cambria"/>
              </a:rPr>
              <a:t>34%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5F5C55"/>
                </a:solidFill>
                <a:latin typeface="Calibri"/>
              </a:rPr>
              <a:t>of all 203,029 dataset frames show no animal at 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943600"/>
            <a:ext cx="11795759" cy="2651760"/>
          </a:xfrm>
          <a:prstGeom prst="roundRect">
            <a:avLst>
              <a:gd name="adj" fmla="val 5000"/>
            </a:avLst>
          </a:prstGeom>
          <a:solidFill>
            <a:srgbClr val="1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365760" rIns="411480" bIns="274320" rtlCol="0" anchor="t">
            <a:noAutofit/>
          </a:bodyPr>
          <a:lstStyle/>
          <a:p>
            <a:pPr algn="l">
              <a:spcAft>
                <a:spcPts val="1000"/>
              </a:spcAft>
            </a:pPr>
            <a:r>
              <a:rPr sz="1400" b="1" i="0" spc="140">
                <a:solidFill>
                  <a:srgbClr val="C9A66B"/>
                </a:solidFill>
                <a:latin typeface="Calibri"/>
              </a:rPr>
              <a:t>THE QUESTION WE SET OUT TO ANSWER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Can a model name the species in a camera-trap photo taken by a camera it has never seen before?</a:t>
            </a:r>
          </a:p>
          <a:p>
            <a:pPr algn="l"/>
            <a:r>
              <a:rPr sz="1700" b="0" i="0">
                <a:solidFill>
                  <a:srgbClr val="CBD4C7"/>
                </a:solidFill>
                <a:latin typeface="Calibri"/>
              </a:rPr>
              <a:t>Reserves keep installing new cameras, so a model that only works on backgrounds it has memorised is of no use in the field.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665" b="-566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Section Header"/>
          <p:cNvSpPr txBox="1"/>
          <p:nvPr/>
        </p:nvSpPr>
        <p:spPr>
          <a:xfrm>
            <a:off x="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777240" indent="-388620" algn="l">
              <a:buFont typeface="Arial"/>
              <a:buChar char="•"/>
            </a:pPr>
            <a:r>
              <a:rPr sz="3600" b="1" i="0">
                <a:solidFill>
                  <a:srgbClr val="B5451B"/>
                </a:solidFill>
                <a:latin typeface="Cambria"/>
              </a:rPr>
              <a:t>Problem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777240" y="1188720"/>
            <a:ext cx="167335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1A1A17"/>
                </a:solidFill>
                <a:latin typeface="Cambria"/>
              </a:rPr>
              <a:t>Today, every photo waits in a human review queue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777240" y="1938528"/>
            <a:ext cx="167335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5F5C55"/>
                </a:solidFill>
                <a:latin typeface="Calibri"/>
              </a:rPr>
              <a:t>Our EDA projects about 1 million images a year for KARR's 103 cameras; most are empty frames or near-duplicate bursts of the same animal.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3657600" cy="123444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LuCamera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017520"/>
            <a:ext cx="658368" cy="6583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20240" y="2743200"/>
            <a:ext cx="2377440" cy="1234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A1A17"/>
                </a:solidFill>
                <a:latin typeface="Calibri"/>
              </a:rPr>
              <a:t>Camera triggers</a:t>
            </a:r>
          </a:p>
        </p:txBody>
      </p:sp>
      <p:pic>
        <p:nvPicPr>
          <p:cNvPr id="9" name="Picture 8" descr="LuArrowRight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2632" y="3177540"/>
            <a:ext cx="365760" cy="3657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136184" y="2743200"/>
            <a:ext cx="3657600" cy="123444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LuUpload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6224" y="3017520"/>
            <a:ext cx="658368" cy="658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79184" y="2743200"/>
            <a:ext cx="2377440" cy="1234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A1A17"/>
                </a:solidFill>
                <a:latin typeface="Calibri"/>
              </a:rPr>
              <a:t>Image uploaded</a:t>
            </a:r>
          </a:p>
        </p:txBody>
      </p:sp>
      <p:pic>
        <p:nvPicPr>
          <p:cNvPr id="13" name="Picture 12" descr="LuArrowRight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577" y="3177540"/>
            <a:ext cx="365760" cy="3657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495129" y="2743200"/>
            <a:ext cx="3657600" cy="1234440"/>
          </a:xfrm>
          <a:prstGeom prst="roundRect">
            <a:avLst>
              <a:gd name="adj" fmla="val 6000"/>
            </a:avLst>
          </a:prstGeom>
          <a:solidFill>
            <a:srgbClr val="B5451B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LuUser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5169" y="3017520"/>
            <a:ext cx="658368" cy="658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638129" y="2743200"/>
            <a:ext cx="2377440" cy="1234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Manual review queue</a:t>
            </a:r>
          </a:p>
        </p:txBody>
      </p:sp>
      <p:pic>
        <p:nvPicPr>
          <p:cNvPr id="17" name="Picture 16" descr="LuArrowRight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0522" y="3177540"/>
            <a:ext cx="365760" cy="36576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3854074" y="2743200"/>
            <a:ext cx="3657600" cy="123444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Picture 18" descr="LuClipboardList_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4114" y="3017520"/>
            <a:ext cx="658368" cy="6583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997074" y="2743200"/>
            <a:ext cx="2377440" cy="1234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A1A17"/>
                </a:solidFill>
                <a:latin typeface="Calibri"/>
              </a:rPr>
              <a:t>Species logged (delayed)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5129" y="4069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00" b="0" i="1">
                <a:solidFill>
                  <a:srgbClr val="B5451B"/>
                </a:solidFill>
                <a:latin typeface="Calibri"/>
              </a:rPr>
              <a:t>▲ the bottleneck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63440"/>
            <a:ext cx="3657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97280" y="4937760"/>
            <a:ext cx="731520" cy="731520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4" name="Picture 23" descr="LuClock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1872" y="5102352"/>
            <a:ext cx="402336" cy="4023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97280" y="5897880"/>
            <a:ext cx="3108960" cy="160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A1A17"/>
                </a:solidFill>
                <a:latin typeface="Calibri"/>
              </a:rPr>
              <a:t>Reviewer hours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5F5C55"/>
                </a:solidFill>
                <a:latin typeface="Calibri"/>
              </a:rPr>
              <a:t>Thousands of blank or duplicate frames need the same manual attention as a real detection.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36184" y="4663440"/>
            <a:ext cx="3657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5456224" y="4937760"/>
            <a:ext cx="731520" cy="731520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8" name="Picture 27" descr="LuTriangleAlert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20816" y="5102352"/>
            <a:ext cx="402336" cy="40233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456224" y="5897880"/>
            <a:ext cx="3108960" cy="160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A1A17"/>
                </a:solidFill>
                <a:latin typeface="Calibri"/>
              </a:rPr>
              <a:t>Delayed conservation action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5F5C55"/>
                </a:solidFill>
                <a:latin typeface="Calibri"/>
              </a:rPr>
              <a:t>A rare-species sighting only surfaces when someone happens to reach that image in the queue.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95129" y="4663440"/>
            <a:ext cx="3657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9815169" y="4937760"/>
            <a:ext cx="731520" cy="731520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2" name="Picture 31" descr="LuMapPin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79761" y="5102352"/>
            <a:ext cx="402336" cy="40233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815169" y="5897880"/>
            <a:ext cx="3108960" cy="160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A1A17"/>
                </a:solidFill>
                <a:latin typeface="Calibri"/>
              </a:rPr>
              <a:t>Hardware misallocation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5F5C55"/>
                </a:solidFill>
                <a:latin typeface="Calibri"/>
              </a:rPr>
              <a:t>Cameras at low-yield stations are never flagged for relocation — there is no data-driven signal.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854074" y="4663440"/>
            <a:ext cx="3657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Oval 34"/>
          <p:cNvSpPr/>
          <p:nvPr/>
        </p:nvSpPr>
        <p:spPr>
          <a:xfrm>
            <a:off x="14174114" y="4937760"/>
            <a:ext cx="731520" cy="731520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6" name="Picture 35" descr="LuWifi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338706" y="5102352"/>
            <a:ext cx="402336" cy="40233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4174114" y="5897880"/>
            <a:ext cx="3108960" cy="160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A1A17"/>
                </a:solidFill>
                <a:latin typeface="Calibri"/>
              </a:rPr>
              <a:t>Bandwidth &amp; data costs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5F5C55"/>
                </a:solidFill>
                <a:latin typeface="Calibri"/>
              </a:rPr>
              <a:t>Remote cameras send every frame, blank or not, over limited cellular links.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7955279"/>
            <a:ext cx="16733520" cy="1371600"/>
          </a:xfrm>
          <a:prstGeom prst="roundRect">
            <a:avLst>
              <a:gd name="adj" fmla="val 6000"/>
            </a:avLst>
          </a:prstGeom>
          <a:solidFill>
            <a:srgbClr val="1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82880" rIns="411480" bIns="182880" rtlCol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 spc="140">
                <a:solidFill>
                  <a:srgbClr val="C9A66B"/>
                </a:solidFill>
                <a:latin typeface="Calibri"/>
              </a:rPr>
              <a:t>WHAT WE NEED 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An automatic first pass that filters empty frames and names the species, so people review only what matters — and that keeps working when a new camera is installed.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63" b="-84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41280" y="2697480"/>
            <a:ext cx="7269480" cy="4937760"/>
          </a:xfrm>
          <a:custGeom>
            <a:avLst/>
            <a:gdLst/>
            <a:ahLst/>
            <a:cxnLst/>
            <a:rect l="l" t="t" r="r" b="b"/>
            <a:pathLst>
              <a:path w="7311970" h="4969402">
                <a:moveTo>
                  <a:pt x="0" y="0"/>
                </a:moveTo>
                <a:lnTo>
                  <a:pt x="7311970" y="0"/>
                </a:lnTo>
                <a:lnTo>
                  <a:pt x="7311970" y="4969402"/>
                </a:lnTo>
                <a:lnTo>
                  <a:pt x="0" y="49694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Section Header"/>
          <p:cNvSpPr txBox="1"/>
          <p:nvPr/>
        </p:nvSpPr>
        <p:spPr>
          <a:xfrm>
            <a:off x="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777240" indent="-388620" algn="l">
              <a:buFont typeface="Arial"/>
              <a:buChar char="•"/>
            </a:pPr>
            <a:r>
              <a:rPr sz="3600" b="1" i="0">
                <a:solidFill>
                  <a:srgbClr val="B5451B"/>
                </a:solidFill>
                <a:latin typeface="Cambria"/>
              </a:rPr>
              <a:t>Data</a:t>
            </a:r>
          </a:p>
        </p:txBody>
      </p:sp>
      <p:sp>
        <p:nvSpPr>
          <p:cNvPr id="5" name="Slide Title"/>
          <p:cNvSpPr txBox="1"/>
          <p:nvPr/>
        </p:nvSpPr>
        <p:spPr>
          <a:xfrm>
            <a:off x="777240" y="1188720"/>
            <a:ext cx="167335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1A1A17"/>
                </a:solidFill>
                <a:latin typeface="Cambria"/>
              </a:rPr>
              <a:t>iWildCam 2020 — the WILDS v2.0 camera-trap benchmark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777240" y="1938528"/>
            <a:ext cx="167335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5F5C55"/>
                </a:solidFill>
                <a:latin typeface="Calibri"/>
              </a:rPr>
              <a:t>Public stand-in for KARR's own Wildlife Insights data: 203,029 images from 323 camera locations, 182 species. We use the 10 most frequent classes.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97480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01168" rIns="182880" bIns="137160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B5451B"/>
                </a:solidFill>
                <a:latin typeface="Cambria"/>
              </a:rPr>
              <a:t>10</a:t>
            </a:r>
          </a:p>
          <a:p>
            <a:pPr algn="l"/>
            <a:r>
              <a:rPr sz="1400" b="0" i="0">
                <a:solidFill>
                  <a:srgbClr val="5F5C55"/>
                </a:solidFill>
                <a:latin typeface="Calibri"/>
              </a:rPr>
              <a:t>classes: empty + the 9 most
frequent species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63339" y="2697480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01168" rIns="182880" bIns="137160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B5451B"/>
                </a:solidFill>
                <a:latin typeface="Cambria"/>
              </a:rPr>
              <a:t>39,898</a:t>
            </a:r>
          </a:p>
          <a:p>
            <a:pPr algn="l"/>
            <a:r>
              <a:rPr sz="1400" b="0" i="0">
                <a:solidFill>
                  <a:srgbClr val="5F5C55"/>
                </a:solidFill>
                <a:latin typeface="Calibri"/>
              </a:rPr>
              <a:t>images sampled across
four official splits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697480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01168" rIns="182880" bIns="137160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B5451B"/>
                </a:solidFill>
                <a:latin typeface="Cambria"/>
              </a:rPr>
              <a:t>29</a:t>
            </a:r>
          </a:p>
          <a:p>
            <a:pPr algn="l"/>
            <a:r>
              <a:rPr sz="1400" b="0" i="0">
                <a:solidFill>
                  <a:srgbClr val="5F5C55"/>
                </a:solidFill>
                <a:latin typeface="Calibri"/>
              </a:rPr>
              <a:t>test cameras never
seen in training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4572000"/>
          <a:ext cx="8915399" cy="256032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1" i="0" spc="40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B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 spc="40">
                          <a:solidFill>
                            <a:srgbClr val="FFFFFF"/>
                          </a:solidFill>
                          <a:latin typeface="Calibri"/>
                        </a:rPr>
                        <a:t>WHAT IT TESTS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B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spc="40">
                          <a:solidFill>
                            <a:srgbClr val="FFFFFF"/>
                          </a:solidFill>
                          <a:latin typeface="Calibri"/>
                        </a:rPr>
                        <a:t>IMAGES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B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spc="40">
                          <a:solidFill>
                            <a:srgbClr val="FFFFFF"/>
                          </a:solidFill>
                          <a:latin typeface="Calibri"/>
                        </a:rPr>
                        <a:t>BURSTS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B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spc="40">
                          <a:solidFill>
                            <a:srgbClr val="FFFFFF"/>
                          </a:solidFill>
                          <a:latin typeface="Calibri"/>
                        </a:rPr>
                        <a:t>CAMERAS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7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Fitting + model selection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29,740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8,773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208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7"/>
                          </a:solidFill>
                          <a:latin typeface="Calibri"/>
                        </a:rPr>
                        <a:t>id_val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Seen cameras, later dates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2,377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872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7"/>
                          </a:solidFill>
                          <a:latin typeface="Calibri"/>
                        </a:rPr>
                        <a:t>id_test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Seen cameras, later dates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3,420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982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137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7"/>
                          </a:solidFill>
                          <a:latin typeface="Calibri"/>
                        </a:rPr>
                        <a:t>ood_val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6E3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B5451B"/>
                          </a:solidFill>
                          <a:latin typeface="Calibri"/>
                        </a:rPr>
                        <a:t>Never-seen cameras (the real test)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6E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B5451B"/>
                          </a:solidFill>
                          <a:latin typeface="Calibri"/>
                        </a:rPr>
                        <a:t>4,361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6E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B5451B"/>
                          </a:solidFill>
                          <a:latin typeface="Calibri"/>
                        </a:rPr>
                        <a:t>1,444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6E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B5451B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6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7240" y="7452360"/>
            <a:ext cx="8915400" cy="132588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82880" rIns="320040" bIns="182880" rtlCol="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sz="1300" b="1" i="0" spc="120">
                <a:solidFill>
                  <a:srgbClr val="B5451B"/>
                </a:solidFill>
                <a:latin typeface="Calibri"/>
              </a:rPr>
              <a:t>SAMPLING   </a:t>
            </a:r>
            <a:r>
              <a:rPr sz="1500" b="0" i="0">
                <a:solidFill>
                  <a:srgbClr val="5F5C55"/>
                </a:solidFill>
                <a:latin typeface="Calibri"/>
              </a:rPr>
              <a:t>Up to 3,000 images per class for training and 600 per class for evaluation, taken round-robin across bursts so no single burst dominates a class. Same classes, splits and seed in every notebook, so all results are directly comparable.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7772400"/>
            <a:ext cx="72694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00" b="0" i="1">
                <a:solidFill>
                  <a:srgbClr val="5F5C55"/>
                </a:solidFill>
                <a:latin typeface="Calibri"/>
              </a:rPr>
              <a:t>Example iWildCam frames: day, infrared night and partial views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681" y="-612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4" r="-43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Section Header"/>
          <p:cNvSpPr txBox="1"/>
          <p:nvPr/>
        </p:nvSpPr>
        <p:spPr>
          <a:xfrm>
            <a:off x="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777240" indent="-388620" algn="l">
              <a:buFont typeface="Arial"/>
              <a:buChar char="•"/>
            </a:pPr>
            <a:r>
              <a:rPr sz="3600" b="1" i="0">
                <a:solidFill>
                  <a:srgbClr val="B5451B"/>
                </a:solidFill>
                <a:latin typeface="Cambria"/>
              </a:rPr>
              <a:t>Analysis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777240" y="1188720"/>
            <a:ext cx="167335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1A1A17"/>
                </a:solidFill>
                <a:latin typeface="Cambria"/>
              </a:rPr>
              <a:t>EDA: the full release at a glance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777240" y="1938528"/>
            <a:ext cx="167335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5F5C55"/>
                </a:solidFill>
                <a:latin typeface="Calibri"/>
              </a:rPr>
              <a:t>All 203,029 images of iWildCam 2020 (WILDS), before any sampling: what the data looks like and what it means for the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51760"/>
            <a:ext cx="3977639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051560" y="2926079"/>
            <a:ext cx="566928" cy="566928"/>
          </a:xfrm>
          <a:prstGeom prst="ellipse">
            <a:avLst/>
          </a:prstGeom>
          <a:solidFill>
            <a:srgbClr val="1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Lu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118" y="3053638"/>
            <a:ext cx="311810" cy="3118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83080" y="2880360"/>
            <a:ext cx="278892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400" b="1" i="0">
                <a:solidFill>
                  <a:srgbClr val="B5451B"/>
                </a:solidFill>
                <a:latin typeface="Cambria"/>
              </a:rPr>
              <a:t>203,029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75887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5F5C55"/>
                </a:solidFill>
                <a:latin typeface="Calibri"/>
              </a:rPr>
              <a:t>images · 323 cameras · 182 classes, 2013–2015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526279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2000"/>
              </a:lnSpc>
            </a:pPr>
            <a:r>
              <a:rPr sz="1500" b="1" i="0">
                <a:solidFill>
                  <a:srgbClr val="1F3B2C"/>
                </a:solidFill>
                <a:latin typeface="Calibri"/>
              </a:rPr>
              <a:t>→ Clean: 0 missing cells, 0 duplicate 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880360"/>
            <a:ext cx="278892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 sz="3400" b="1" i="0" dirty="0">
              <a:solidFill>
                <a:srgbClr val="B5451B"/>
              </a:solidFill>
              <a:latin typeface="Cambria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35140" y="2591573"/>
            <a:ext cx="3977639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7146036" y="2905197"/>
            <a:ext cx="566928" cy="566928"/>
          </a:xfrm>
          <a:prstGeom prst="ellipse">
            <a:avLst/>
          </a:prstGeom>
          <a:solidFill>
            <a:srgbClr val="1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Picture 19" descr="LuFilt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2340" y="3053638"/>
            <a:ext cx="311810" cy="31181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837296" y="2867483"/>
            <a:ext cx="278892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400" b="1" i="0" dirty="0">
                <a:solidFill>
                  <a:srgbClr val="B5451B"/>
                </a:solidFill>
                <a:latin typeface="Cambria"/>
              </a:rPr>
              <a:t>34.2%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3543" y="3732273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i="0" dirty="0">
                <a:solidFill>
                  <a:srgbClr val="5F5C55"/>
                </a:solidFill>
                <a:latin typeface="Calibri"/>
              </a:rPr>
              <a:t>of frames are blank (69,487 images)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8804" y="4447073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2000"/>
              </a:lnSpc>
            </a:pPr>
            <a:r>
              <a:rPr sz="1500" b="1" i="0" dirty="0">
                <a:solidFill>
                  <a:srgbClr val="1F3B2C"/>
                </a:solidFill>
                <a:latin typeface="Calibri"/>
              </a:rPr>
              <a:t>→ Filtering empty frames is the first job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533119" y="2651760"/>
            <a:ext cx="3977639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13807440" y="2926079"/>
            <a:ext cx="566928" cy="566928"/>
          </a:xfrm>
          <a:prstGeom prst="ellipse">
            <a:avLst/>
          </a:prstGeom>
          <a:solidFill>
            <a:srgbClr val="1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6" name="Picture 25" descr="LuRepea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34998" y="3053638"/>
            <a:ext cx="311810" cy="31181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538959" y="2880360"/>
            <a:ext cx="278892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400" b="1" i="0">
                <a:solidFill>
                  <a:srgbClr val="B5451B"/>
                </a:solidFill>
                <a:latin typeface="Cambria"/>
              </a:rPr>
              <a:t>5.56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07440" y="3675887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5F5C55"/>
                </a:solidFill>
                <a:latin typeface="Calibri"/>
              </a:rPr>
              <a:t>frames per burst, across 36,484 bursts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07440" y="4526279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2000"/>
              </a:lnSpc>
            </a:pPr>
            <a:r>
              <a:rPr sz="1500" b="1" i="0">
                <a:solidFill>
                  <a:srgbClr val="1F3B2C"/>
                </a:solidFill>
                <a:latin typeface="Calibri"/>
              </a:rPr>
              <a:t>→ Decide once per burst, not per frame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715000"/>
            <a:ext cx="3977639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51560" y="5989320"/>
            <a:ext cx="566928" cy="566928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2" name="Picture 31" descr="LuChartBa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9118" y="6116878"/>
            <a:ext cx="311810" cy="31181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783080" y="5943600"/>
            <a:ext cx="278892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400" b="1" i="0">
                <a:solidFill>
                  <a:srgbClr val="B5451B"/>
                </a:solidFill>
                <a:latin typeface="Cambria"/>
              </a:rPr>
              <a:t>181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6739128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5F5C55"/>
                </a:solidFill>
                <a:latin typeface="Calibri"/>
              </a:rPr>
              <a:t>species, and 54 of them have 10 photos or fewer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758952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2000"/>
              </a:lnSpc>
            </a:pPr>
            <a:r>
              <a:rPr sz="1500" b="1" i="0">
                <a:solidFill>
                  <a:srgbClr val="1F3B2C"/>
                </a:solidFill>
                <a:latin typeface="Calibri"/>
              </a:rPr>
              <a:t>→ Score with macro F1, not accuracy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71715" y="5801868"/>
            <a:ext cx="3977639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Oval 36"/>
          <p:cNvSpPr/>
          <p:nvPr/>
        </p:nvSpPr>
        <p:spPr>
          <a:xfrm>
            <a:off x="7072882" y="6056214"/>
            <a:ext cx="566928" cy="566928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8" name="Picture 37" descr="LuMoo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3595" y="6211136"/>
            <a:ext cx="311810" cy="31181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820323" y="5943599"/>
            <a:ext cx="278892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400" b="1" i="0" dirty="0">
                <a:solidFill>
                  <a:srgbClr val="B5451B"/>
                </a:solidFill>
                <a:latin typeface="Cambria"/>
              </a:rPr>
              <a:t>46%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5606" y="6846033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i="0" dirty="0">
                <a:solidFill>
                  <a:srgbClr val="5F5C55"/>
                </a:solidFill>
                <a:latin typeface="Calibri"/>
              </a:rPr>
              <a:t>of frames are infrared (greyscale)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72882" y="758952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2000"/>
              </a:lnSpc>
            </a:pPr>
            <a:r>
              <a:rPr sz="1500" b="1" i="0" dirty="0">
                <a:solidFill>
                  <a:srgbClr val="1F3B2C"/>
                </a:solidFill>
                <a:latin typeface="Calibri"/>
              </a:rPr>
              <a:t>→ Night and day are two visual domains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533119" y="5715000"/>
            <a:ext cx="3977639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Oval 48"/>
          <p:cNvSpPr/>
          <p:nvPr/>
        </p:nvSpPr>
        <p:spPr>
          <a:xfrm>
            <a:off x="13807440" y="5989320"/>
            <a:ext cx="566928" cy="566928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0" name="Picture 49" descr="LuSplit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34998" y="6116878"/>
            <a:ext cx="311810" cy="31181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4538959" y="5943600"/>
            <a:ext cx="278892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400" b="1" i="0">
                <a:solidFill>
                  <a:srgbClr val="B5451B"/>
                </a:solidFill>
                <a:latin typeface="Cambria"/>
              </a:rPr>
              <a:t>102 / 182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807440" y="6739128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5F5C55"/>
                </a:solidFill>
                <a:latin typeface="Calibri"/>
              </a:rPr>
              <a:t>classes appear in the official OOD test split (48 unseen cameras)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807440" y="758952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2000"/>
              </a:lnSpc>
            </a:pPr>
            <a:r>
              <a:rPr sz="1500" b="1" i="0">
                <a:solidFill>
                  <a:srgbClr val="1F3B2C"/>
                </a:solidFill>
                <a:latin typeface="Calibri"/>
              </a:rPr>
              <a:t>→ 80 classes are trained but never tested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63" b="-84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Section Header"/>
          <p:cNvSpPr txBox="1"/>
          <p:nvPr/>
        </p:nvSpPr>
        <p:spPr>
          <a:xfrm>
            <a:off x="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777240" indent="-388620" algn="l">
              <a:buFont typeface="Arial"/>
              <a:buChar char="•"/>
            </a:pPr>
            <a:r>
              <a:rPr sz="3600" b="1" i="0">
                <a:solidFill>
                  <a:srgbClr val="B5451B"/>
                </a:solidFill>
                <a:latin typeface="Cambria"/>
              </a:rPr>
              <a:t>Analysis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777240" y="1188720"/>
            <a:ext cx="167335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 dirty="0">
                <a:solidFill>
                  <a:srgbClr val="1A1A17"/>
                </a:solidFill>
                <a:latin typeface="Cambria"/>
              </a:rPr>
              <a:t>The real workload is bursts, not frames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777240" y="1938528"/>
            <a:ext cx="167335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5F5C55"/>
                </a:solidFill>
                <a:latin typeface="Calibri"/>
              </a:rPr>
              <a:t>EDA projection for KARR's 103 cameras: ≈1.01 million images a year (26.9 per camera-day). A planning figure, extrapolated from forest and savanna cameras to desert.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97480"/>
            <a:ext cx="8183879" cy="4754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834640"/>
          <a:ext cx="7726679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326880" y="2697480"/>
            <a:ext cx="8183879" cy="4754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555480" y="2834640"/>
          <a:ext cx="7726679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7772400"/>
            <a:ext cx="5394960" cy="155448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7772400"/>
            <a:ext cx="1325880" cy="1554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000" b="1" i="0">
                <a:solidFill>
                  <a:srgbClr val="B5451B"/>
                </a:solidFill>
                <a:latin typeface="Cambria"/>
              </a:rPr>
              <a:t>82%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7772400"/>
            <a:ext cx="3611880" cy="1554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A1A17"/>
                </a:solidFill>
                <a:latin typeface="Calibri"/>
              </a:rPr>
              <a:t>of frames are repeats within a burst. One decision per burst cuts review from 844 to 152 hours, with no machine learning at 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7772400"/>
            <a:ext cx="5394960" cy="155448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20840" y="7772400"/>
            <a:ext cx="1325880" cy="1554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000" b="1" i="0">
                <a:solidFill>
                  <a:srgbClr val="B5451B"/>
                </a:solidFill>
                <a:latin typeface="Cambria"/>
              </a:rPr>
              <a:t>43%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7772400"/>
            <a:ext cx="3611880" cy="1554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A1A17"/>
                </a:solidFill>
                <a:latin typeface="Calibri"/>
              </a:rPr>
              <a:t>of bursts are blank end to end. A blank filter at 95% recall takes review to 88 hours: 90% less than today.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115800" y="7772400"/>
            <a:ext cx="5394960" cy="155448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90120" y="7772400"/>
            <a:ext cx="1325880" cy="1554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000" b="1" i="0">
                <a:solidFill>
                  <a:srgbClr val="B5451B"/>
                </a:solidFill>
                <a:latin typeface="Cambria"/>
              </a:rPr>
              <a:t>88%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0" y="7772400"/>
            <a:ext cx="3611880" cy="1554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A1A17"/>
                </a:solidFill>
                <a:latin typeface="Calibri"/>
              </a:rPr>
              <a:t>less data to send. Blanks are 34% of images but only 33% of bytes, so the big saving is sending one frame per burst.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" r="-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157216" y="8503920"/>
            <a:ext cx="11625245" cy="3196942"/>
          </a:xfrm>
          <a:custGeom>
            <a:avLst/>
            <a:gdLst/>
            <a:ahLst/>
            <a:cxnLst/>
            <a:rect l="l" t="t" r="r" b="b"/>
            <a:pathLst>
              <a:path w="11625245" h="3196942">
                <a:moveTo>
                  <a:pt x="0" y="0"/>
                </a:moveTo>
                <a:lnTo>
                  <a:pt x="11625245" y="0"/>
                </a:lnTo>
                <a:lnTo>
                  <a:pt x="11625245" y="3196943"/>
                </a:lnTo>
                <a:lnTo>
                  <a:pt x="0" y="31969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596639">
            <a:off x="14518855" y="-5154331"/>
            <a:ext cx="6409840" cy="6249594"/>
          </a:xfrm>
          <a:custGeom>
            <a:avLst/>
            <a:gdLst/>
            <a:ahLst/>
            <a:cxnLst/>
            <a:rect l="l" t="t" r="r" b="b"/>
            <a:pathLst>
              <a:path w="6409840" h="6249594">
                <a:moveTo>
                  <a:pt x="0" y="0"/>
                </a:moveTo>
                <a:lnTo>
                  <a:pt x="6409839" y="0"/>
                </a:lnTo>
                <a:lnTo>
                  <a:pt x="6409839" y="6249594"/>
                </a:lnTo>
                <a:lnTo>
                  <a:pt x="0" y="6249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Section Header"/>
          <p:cNvSpPr txBox="1"/>
          <p:nvPr/>
        </p:nvSpPr>
        <p:spPr>
          <a:xfrm>
            <a:off x="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777240" indent="-388620" algn="l">
              <a:buFont typeface="Arial"/>
              <a:buChar char="•"/>
            </a:pPr>
            <a:r>
              <a:rPr sz="3600" b="1" i="0">
                <a:solidFill>
                  <a:srgbClr val="B5451B"/>
                </a:solidFill>
                <a:latin typeface="Cambria"/>
              </a:rPr>
              <a:t>Analysis</a:t>
            </a:r>
          </a:p>
        </p:txBody>
      </p:sp>
      <p:sp>
        <p:nvSpPr>
          <p:cNvPr id="6" name="Slide Title"/>
          <p:cNvSpPr txBox="1"/>
          <p:nvPr/>
        </p:nvSpPr>
        <p:spPr>
          <a:xfrm>
            <a:off x="777240" y="1188720"/>
            <a:ext cx="141732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1A1A17"/>
                </a:solidFill>
                <a:latin typeface="Cambria"/>
              </a:rPr>
              <a:t>A brutal long tail, so we scoped to the top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7589520" cy="7269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005840" y="2331720"/>
          <a:ext cx="7132320" cy="6903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732520" y="2148840"/>
            <a:ext cx="8778240" cy="228600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9006840" y="2926080"/>
            <a:ext cx="731520" cy="731520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LuChartBa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1432" y="3090672"/>
            <a:ext cx="402336" cy="4023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12680" y="2240280"/>
            <a:ext cx="7269480" cy="2103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1A1A17"/>
                </a:solidFill>
                <a:latin typeface="Calibri"/>
              </a:rPr>
              <a:t>One species holds 8% of all images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5F5C55"/>
                </a:solidFill>
                <a:latin typeface="Calibri"/>
              </a:rPr>
              <a:t>Ocellated turkey has 16,282 photos, an imbalance of 16,282 : 1. The top 10 classes hold 56% of animal photos; the rarer half of species holds 0.8%.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4636008"/>
            <a:ext cx="8778240" cy="228600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9006840" y="5413248"/>
            <a:ext cx="731520" cy="731520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LuSpli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1432" y="5577840"/>
            <a:ext cx="402336" cy="4023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12680" y="4727448"/>
            <a:ext cx="7269480" cy="2103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1A1A17"/>
                </a:solidFill>
                <a:latin typeface="Calibri"/>
              </a:rPr>
              <a:t>Only 102 of 182 classes reach the official OOD test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5F5C55"/>
                </a:solidFill>
                <a:latin typeface="Calibri"/>
              </a:rPr>
              <a:t>80 classes are trained but never tested, and 31 test classes have ten images or fewer, so their F1 rides on a handful of frames.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7123176"/>
            <a:ext cx="8778240" cy="228600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9006840" y="7900416"/>
            <a:ext cx="731520" cy="731520"/>
          </a:xfrm>
          <a:prstGeom prst="ellipse">
            <a:avLst/>
          </a:prstGeom>
          <a:solidFill>
            <a:srgbClr val="1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Picture 18" descr="LuTarget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1432" y="8065008"/>
            <a:ext cx="402336" cy="4023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012680" y="7214616"/>
            <a:ext cx="7269480" cy="2103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1A1A17"/>
                </a:solidFill>
                <a:latin typeface="Calibri"/>
              </a:rPr>
              <a:t>Our scope: empty + the 9 most frequent species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5F5C55"/>
                </a:solidFill>
                <a:latin typeface="Calibri"/>
              </a:rPr>
              <a:t>Every one has at least 130 images on the unseen cameras. Empty still outnumbers gray fox 17.5× in training, so we cap each class at 3,000 images.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665" b="-566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Section Header"/>
          <p:cNvSpPr txBox="1"/>
          <p:nvPr/>
        </p:nvSpPr>
        <p:spPr>
          <a:xfrm>
            <a:off x="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777240" indent="-388620" algn="l">
              <a:buFont typeface="Arial"/>
              <a:buChar char="•"/>
            </a:pPr>
            <a:r>
              <a:rPr sz="3600" b="1" i="0">
                <a:solidFill>
                  <a:srgbClr val="B5451B"/>
                </a:solidFill>
                <a:latin typeface="Cambria"/>
              </a:rPr>
              <a:t>Analysis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777240" y="1188720"/>
            <a:ext cx="167335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1A1A17"/>
                </a:solidFill>
                <a:latin typeface="Cambria"/>
              </a:rPr>
              <a:t>When animals are active, and how the camera sees them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9966960" cy="7269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005840" y="2286000"/>
          <a:ext cx="9509760" cy="6995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1064240" y="2148840"/>
            <a:ext cx="6446520" cy="228600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11292840" y="2423160"/>
            <a:ext cx="640080" cy="640080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" name="Picture 8" descr="LuClo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6858" y="2567178"/>
            <a:ext cx="352044" cy="3520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115800" y="242316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A1A17"/>
                </a:solidFill>
                <a:latin typeface="Calibri"/>
              </a:rPr>
              <a:t>A three-way clock beats night/day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3154680"/>
            <a:ext cx="603504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50" b="0" i="0">
                <a:solidFill>
                  <a:srgbClr val="5F5C55"/>
                </a:solidFill>
                <a:latin typeface="Calibri"/>
              </a:rPr>
              <a:t>81 diurnal, 38 crepuscular and 62 nocturnal species. Curassow and agouti peak at dawn and dusk. Hour of day is a free feature, and our LR / XGBoost models use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64240" y="4636008"/>
            <a:ext cx="6446520" cy="228600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292840" y="4910328"/>
            <a:ext cx="640080" cy="640080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Picture 13" descr="LuMoo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6858" y="5054346"/>
            <a:ext cx="352044" cy="3520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115800" y="4910328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A1A17"/>
                </a:solidFill>
                <a:latin typeface="Calibri"/>
              </a:rPr>
              <a:t>Almost half the frames are infrared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5641848"/>
            <a:ext cx="603504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50" b="0" i="0">
                <a:solidFill>
                  <a:srgbClr val="5F5C55"/>
                </a:solidFill>
                <a:latin typeface="Calibri"/>
              </a:rPr>
              <a:t>46% of images are greyscale IR, including 30% of daytime frames under dense canopy. The official OOD test cameras run more IR than training (53% vs 43%).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064240" y="7123176"/>
            <a:ext cx="6446520" cy="228600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292840" y="7397496"/>
            <a:ext cx="640080" cy="640080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Picture 18" descr="LuTriangleAler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6858" y="7541514"/>
            <a:ext cx="352044" cy="3520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115800" y="7397496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A1A17"/>
                </a:solidFill>
                <a:latin typeface="Calibri"/>
              </a:rPr>
              <a:t>The calendar is a shortcut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8129016"/>
            <a:ext cx="603504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50" b="0" i="0">
                <a:solidFill>
                  <a:srgbClr val="5F5C55"/>
                </a:solidFill>
                <a:latin typeface="Calibri"/>
              </a:rPr>
              <a:t>92% of images come from 2013, in one campaign wave. Month and year only encode which cameras were running, so they stay out of the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" r="-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155436" y="7886694"/>
            <a:ext cx="11625245" cy="3196942"/>
          </a:xfrm>
          <a:custGeom>
            <a:avLst/>
            <a:gdLst/>
            <a:ahLst/>
            <a:cxnLst/>
            <a:rect l="l" t="t" r="r" b="b"/>
            <a:pathLst>
              <a:path w="11625245" h="3196942">
                <a:moveTo>
                  <a:pt x="0" y="0"/>
                </a:moveTo>
                <a:lnTo>
                  <a:pt x="11625245" y="0"/>
                </a:lnTo>
                <a:lnTo>
                  <a:pt x="11625245" y="3196942"/>
                </a:lnTo>
                <a:lnTo>
                  <a:pt x="0" y="31969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607688" y="9007153"/>
            <a:ext cx="8776433" cy="2413519"/>
          </a:xfrm>
          <a:custGeom>
            <a:avLst/>
            <a:gdLst/>
            <a:ahLst/>
            <a:cxnLst/>
            <a:rect l="l" t="t" r="r" b="b"/>
            <a:pathLst>
              <a:path w="8776433" h="2413519">
                <a:moveTo>
                  <a:pt x="0" y="0"/>
                </a:moveTo>
                <a:lnTo>
                  <a:pt x="8776433" y="0"/>
                </a:lnTo>
                <a:lnTo>
                  <a:pt x="8776433" y="2413519"/>
                </a:lnTo>
                <a:lnTo>
                  <a:pt x="0" y="24135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596639">
            <a:off x="13027233" y="-3971321"/>
            <a:ext cx="6409840" cy="6249594"/>
          </a:xfrm>
          <a:custGeom>
            <a:avLst/>
            <a:gdLst/>
            <a:ahLst/>
            <a:cxnLst/>
            <a:rect l="l" t="t" r="r" b="b"/>
            <a:pathLst>
              <a:path w="6409840" h="6249594">
                <a:moveTo>
                  <a:pt x="0" y="0"/>
                </a:moveTo>
                <a:lnTo>
                  <a:pt x="6409840" y="0"/>
                </a:lnTo>
                <a:lnTo>
                  <a:pt x="6409840" y="6249594"/>
                </a:lnTo>
                <a:lnTo>
                  <a:pt x="0" y="6249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Section Header"/>
          <p:cNvSpPr txBox="1"/>
          <p:nvPr/>
        </p:nvSpPr>
        <p:spPr>
          <a:xfrm>
            <a:off x="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777240" indent="-388620" algn="l">
              <a:buFont typeface="Arial"/>
              <a:buChar char="•"/>
            </a:pPr>
            <a:r>
              <a:rPr sz="3600" b="1" i="0">
                <a:solidFill>
                  <a:srgbClr val="B5451B"/>
                </a:solidFill>
                <a:latin typeface="Cambria"/>
              </a:rPr>
              <a:t>Analysis</a:t>
            </a:r>
          </a:p>
        </p:txBody>
      </p:sp>
      <p:sp>
        <p:nvSpPr>
          <p:cNvPr id="7" name="Slide Title"/>
          <p:cNvSpPr txBox="1"/>
          <p:nvPr/>
        </p:nvSpPr>
        <p:spPr>
          <a:xfrm>
            <a:off x="777240" y="1188720"/>
            <a:ext cx="121615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1A1A17"/>
                </a:solidFill>
                <a:latin typeface="Cambria"/>
              </a:rPr>
              <a:t>Why unseen cameras are hard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777240" y="1938528"/>
            <a:ext cx="121615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5F5C55"/>
                </a:solidFill>
                <a:latin typeface="Calibri"/>
              </a:rPr>
              <a:t>Training cameras vs the 48 official OOD test cameras, compared on five axes.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97480"/>
            <a:ext cx="8595360" cy="6720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005840" y="2834640"/>
          <a:ext cx="8138160" cy="6446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9692640" y="2697480"/>
            <a:ext cx="7818120" cy="210312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9921240" y="3383280"/>
            <a:ext cx="731520" cy="731520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" name="Picture 12" descr="LuSpli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5832" y="3547872"/>
            <a:ext cx="402336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81360" y="2788920"/>
            <a:ext cx="6446520" cy="1920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A1A17"/>
                </a:solidFill>
                <a:latin typeface="Calibri"/>
              </a:rPr>
              <a:t>The split is by camera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5F5C55"/>
                </a:solidFill>
                <a:latin typeface="Calibri"/>
              </a:rPr>
              <a:t>The train, val and test splits share 0 camera locations, while id_val / id_test reuse training cameras. The gap between them is the domain-shift penalty, so we used the shipped splits only.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4983480"/>
            <a:ext cx="7818120" cy="210312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9921240" y="5669280"/>
            <a:ext cx="731520" cy="731520"/>
          </a:xfrm>
          <a:prstGeom prst="ellipse">
            <a:avLst/>
          </a:prstGeom>
          <a:solidFill>
            <a:srgbClr val="1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Picture 16" descr="LuFocus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85832" y="5833872"/>
            <a:ext cx="402336" cy="4023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881360" y="5074920"/>
            <a:ext cx="6446520" cy="1920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A1A17"/>
                </a:solidFill>
                <a:latin typeface="Calibri"/>
              </a:rPr>
              <a:t>The animal is tiny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5F5C55"/>
                </a:solidFill>
                <a:latin typeface="Calibri"/>
              </a:rPr>
              <a:t>With no boxes, background subtraction puts the median animal at 1.6% of the frame (≈28×28 px at 224 px) and 42% of bursts under 1%. This is why we detect first, then classify the crop.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7269480"/>
            <a:ext cx="7818120" cy="210312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9921240" y="7955279"/>
            <a:ext cx="731520" cy="731520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1" name="Picture 20" descr="LuScanSearch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85832" y="8119871"/>
            <a:ext cx="402336" cy="4023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881360" y="7360920"/>
            <a:ext cx="6446520" cy="1920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A1A17"/>
                </a:solidFill>
                <a:latin typeface="Calibri"/>
              </a:rPr>
              <a:t>The pixels name the camera</a:t>
            </a:r>
          </a:p>
          <a:p>
            <a:pPr algn="l">
              <a:lnSpc>
                <a:spcPct val="104000"/>
              </a:lnSpc>
            </a:pPr>
            <a:r>
              <a:rPr sz="1450" b="0" i="0">
                <a:solidFill>
                  <a:srgbClr val="5F5C55"/>
                </a:solidFill>
                <a:latin typeface="Calibri"/>
              </a:rPr>
              <a:t>45% of frames carry a burned-in bottom bar (camera model, sometimes an ID) and 34% a top bar. The split can't close this leak. Recommended fix: crop the top and bottom 5%.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" r="-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157216" y="8503920"/>
            <a:ext cx="11625245" cy="3196942"/>
          </a:xfrm>
          <a:custGeom>
            <a:avLst/>
            <a:gdLst/>
            <a:ahLst/>
            <a:cxnLst/>
            <a:rect l="l" t="t" r="r" b="b"/>
            <a:pathLst>
              <a:path w="11625245" h="3196942">
                <a:moveTo>
                  <a:pt x="0" y="0"/>
                </a:moveTo>
                <a:lnTo>
                  <a:pt x="11625245" y="0"/>
                </a:lnTo>
                <a:lnTo>
                  <a:pt x="11625245" y="3196943"/>
                </a:lnTo>
                <a:lnTo>
                  <a:pt x="0" y="31969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607688" y="9007153"/>
            <a:ext cx="8776433" cy="2413519"/>
          </a:xfrm>
          <a:custGeom>
            <a:avLst/>
            <a:gdLst/>
            <a:ahLst/>
            <a:cxnLst/>
            <a:rect l="l" t="t" r="r" b="b"/>
            <a:pathLst>
              <a:path w="8776433" h="2413519">
                <a:moveTo>
                  <a:pt x="0" y="0"/>
                </a:moveTo>
                <a:lnTo>
                  <a:pt x="8776433" y="0"/>
                </a:lnTo>
                <a:lnTo>
                  <a:pt x="8776433" y="2413519"/>
                </a:lnTo>
                <a:lnTo>
                  <a:pt x="0" y="24135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596639">
            <a:off x="13027233" y="-3971321"/>
            <a:ext cx="6409840" cy="6249594"/>
          </a:xfrm>
          <a:custGeom>
            <a:avLst/>
            <a:gdLst/>
            <a:ahLst/>
            <a:cxnLst/>
            <a:rect l="l" t="t" r="r" b="b"/>
            <a:pathLst>
              <a:path w="6409840" h="6249594">
                <a:moveTo>
                  <a:pt x="0" y="0"/>
                </a:moveTo>
                <a:lnTo>
                  <a:pt x="6409840" y="0"/>
                </a:lnTo>
                <a:lnTo>
                  <a:pt x="6409840" y="6249594"/>
                </a:lnTo>
                <a:lnTo>
                  <a:pt x="0" y="6249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Section Header"/>
          <p:cNvSpPr txBox="1"/>
          <p:nvPr/>
        </p:nvSpPr>
        <p:spPr>
          <a:xfrm>
            <a:off x="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777240" indent="-388620" algn="l">
              <a:buFont typeface="Arial"/>
              <a:buChar char="•"/>
            </a:pPr>
            <a:r>
              <a:rPr sz="3600" b="1" i="0">
                <a:solidFill>
                  <a:srgbClr val="B5451B"/>
                </a:solidFill>
                <a:latin typeface="Cambria"/>
              </a:rPr>
              <a:t>Analysis</a:t>
            </a:r>
          </a:p>
        </p:txBody>
      </p:sp>
      <p:sp>
        <p:nvSpPr>
          <p:cNvPr id="7" name="Slide Title"/>
          <p:cNvSpPr txBox="1"/>
          <p:nvPr/>
        </p:nvSpPr>
        <p:spPr>
          <a:xfrm>
            <a:off x="777240" y="1188720"/>
            <a:ext cx="123444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1A1A17"/>
                </a:solidFill>
                <a:latin typeface="Cambria"/>
              </a:rPr>
              <a:t>The background can give the answer away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777240" y="1938528"/>
            <a:ext cx="121615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5F5C55"/>
                </a:solidFill>
                <a:latin typeface="Calibri"/>
              </a:rPr>
              <a:t>Camera traps never move, so a model can learn which camera it is looking at instead of which animal is in front of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43200"/>
            <a:ext cx="7589520" cy="6400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005840" y="2926080"/>
          <a:ext cx="7132320" cy="603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732520" y="2743200"/>
            <a:ext cx="8778240" cy="201168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9006840" y="3383280"/>
            <a:ext cx="731520" cy="731520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" name="Picture 12" descr="LuMapPi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1432" y="3547872"/>
            <a:ext cx="402336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12680" y="2834640"/>
            <a:ext cx="7269480" cy="182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1A1A17"/>
                </a:solidFill>
                <a:latin typeface="Calibri"/>
              </a:rPr>
              <a:t>Two classes are identifiable by site alone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5F5C55"/>
                </a:solidFill>
                <a:latin typeface="Calibri"/>
              </a:rPr>
              <a:t>Black-fronted duiker and empty appear at cameras no other class visits. We therefore report honest macro F1 over the other 8 classes.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4919472"/>
            <a:ext cx="8778240" cy="201168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9006840" y="5559552"/>
            <a:ext cx="731520" cy="731520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Picture 16" descr="LuScal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1432" y="5724144"/>
            <a:ext cx="402336" cy="4023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012680" y="5010912"/>
            <a:ext cx="7269480" cy="182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1A1A17"/>
                </a:solidFill>
                <a:latin typeface="Calibri"/>
              </a:rPr>
              <a:t>Easy sites flatter the average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5F5C55"/>
                </a:solidFill>
                <a:latin typeface="Calibri"/>
              </a:rPr>
              <a:t>Camera-weighted accuracy is 0.807 vs 0.637 image-weighted. The 6 contested cameras hold 72% of test images — that is where the real work 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7095744"/>
            <a:ext cx="8778240" cy="201168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9006840" y="7735823"/>
            <a:ext cx="731520" cy="731520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1" name="Picture 20" descr="LuFilter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71432" y="7900415"/>
            <a:ext cx="402336" cy="4023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12680" y="7187183"/>
            <a:ext cx="7269480" cy="182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1A1A17"/>
                </a:solidFill>
                <a:latin typeface="Calibri"/>
              </a:rPr>
              <a:t>Every feature audited for site leakage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5F5C55"/>
                </a:solidFill>
                <a:latin typeface="Calibri"/>
              </a:rPr>
              <a:t>We measured how much of each feature's variance is explained by camera ID. Burst length was a site fingerprint and was dropped; box size, position and detector confidence passed (5–19%).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63" b="-84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Section Header"/>
          <p:cNvSpPr txBox="1"/>
          <p:nvPr/>
        </p:nvSpPr>
        <p:spPr>
          <a:xfrm>
            <a:off x="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777240" indent="-388620" algn="l">
              <a:buFont typeface="Arial"/>
              <a:buChar char="•"/>
            </a:pPr>
            <a:r>
              <a:rPr sz="3600" b="1" i="0">
                <a:solidFill>
                  <a:srgbClr val="B5451B"/>
                </a:solidFill>
                <a:latin typeface="Cambria"/>
              </a:rPr>
              <a:t>Approach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777240" y="1188720"/>
            <a:ext cx="167335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1A1A17"/>
                </a:solidFill>
                <a:latin typeface="Cambria"/>
              </a:rPr>
              <a:t>Detect </a:t>
            </a:r>
            <a:r>
              <a:rPr sz="4000" b="1" i="0">
                <a:solidFill>
                  <a:srgbClr val="1A1A17"/>
                </a:solidFill>
                <a:latin typeface="Calibri"/>
              </a:rPr>
              <a:t>→</a:t>
            </a:r>
            <a:r>
              <a:rPr sz="4000" b="1" i="0">
                <a:solidFill>
                  <a:srgbClr val="1A1A17"/>
                </a:solidFill>
                <a:latin typeface="Cambria"/>
              </a:rPr>
              <a:t> crop </a:t>
            </a:r>
            <a:r>
              <a:rPr sz="4000" b="1" i="0">
                <a:solidFill>
                  <a:srgbClr val="1A1A17"/>
                </a:solidFill>
                <a:latin typeface="Calibri"/>
              </a:rPr>
              <a:t>→</a:t>
            </a:r>
            <a:r>
              <a:rPr sz="4000" b="1" i="0">
                <a:solidFill>
                  <a:srgbClr val="1A1A17"/>
                </a:solidFill>
                <a:latin typeface="Cambria"/>
              </a:rPr>
              <a:t> classify </a:t>
            </a:r>
            <a:r>
              <a:rPr sz="4000" b="1" i="0">
                <a:solidFill>
                  <a:srgbClr val="1A1A17"/>
                </a:solidFill>
                <a:latin typeface="Calibri"/>
              </a:rPr>
              <a:t>→</a:t>
            </a:r>
            <a:r>
              <a:rPr sz="4000" b="1" i="0">
                <a:solidFill>
                  <a:srgbClr val="1A1A17"/>
                </a:solidFill>
                <a:latin typeface="Cambria"/>
              </a:rPr>
              <a:t> vote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777240" y="1938528"/>
            <a:ext cx="167335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5F5C55"/>
                </a:solidFill>
                <a:latin typeface="Calibri"/>
              </a:rPr>
              <a:t>Instead of asking a model to read the whole scene, we point it at the animal and decide once per trigger event.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97480"/>
            <a:ext cx="2514600" cy="315468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LuCamera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971800"/>
            <a:ext cx="566928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" y="3703320"/>
            <a:ext cx="2057400" cy="2148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1" i="0" spc="120">
                <a:solidFill>
                  <a:srgbClr val="C9A66B"/>
                </a:solidFill>
                <a:latin typeface="Calibri"/>
              </a:rPr>
              <a:t>STEP 1</a:t>
            </a:r>
          </a:p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A1A17"/>
                </a:solidFill>
                <a:latin typeface="Calibri"/>
              </a:rPr>
              <a:t>Camera trigger</a:t>
            </a:r>
          </a:p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5F5C55"/>
                </a:solidFill>
                <a:latin typeface="Calibri"/>
              </a:rPr>
              <a:t>A burst of ~3 frames per event, daylight or infrared night.</a:t>
            </a:r>
          </a:p>
        </p:txBody>
      </p:sp>
      <p:pic>
        <p:nvPicPr>
          <p:cNvPr id="9" name="Picture 8" descr="LuArrowRight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4160520"/>
            <a:ext cx="274320" cy="274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621024" y="2697480"/>
            <a:ext cx="2514600" cy="315468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LuScanSearch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5344" y="2971800"/>
            <a:ext cx="566928" cy="566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95344" y="3703320"/>
            <a:ext cx="2057400" cy="2148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1" i="0" spc="120">
                <a:solidFill>
                  <a:srgbClr val="C9A66B"/>
                </a:solidFill>
                <a:latin typeface="Calibri"/>
              </a:rPr>
              <a:t>STEP 2</a:t>
            </a:r>
          </a:p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A1A17"/>
                </a:solidFill>
                <a:latin typeface="Calibri"/>
              </a:rPr>
              <a:t>MegaDetector v6</a:t>
            </a:r>
          </a:p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5F5C55"/>
                </a:solidFill>
                <a:latin typeface="Calibri"/>
              </a:rPr>
              <a:t>Finds the animal: one box and a confidence per image.</a:t>
            </a:r>
          </a:p>
        </p:txBody>
      </p:sp>
      <p:pic>
        <p:nvPicPr>
          <p:cNvPr id="13" name="Picture 12" descr="LuArrowRight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4160520"/>
            <a:ext cx="274320" cy="2743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64807" y="2697480"/>
            <a:ext cx="2514600" cy="3154680"/>
          </a:xfrm>
          <a:prstGeom prst="roundRect">
            <a:avLst>
              <a:gd name="adj" fmla="val 6000"/>
            </a:avLst>
          </a:prstGeom>
          <a:solidFill>
            <a:srgbClr val="B5451B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LuCrop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9127" y="2971800"/>
            <a:ext cx="566928" cy="5669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39127" y="3703320"/>
            <a:ext cx="2057400" cy="2148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1" i="0" spc="120">
                <a:solidFill>
                  <a:srgbClr val="FFFFFF"/>
                </a:solidFill>
                <a:latin typeface="Calibri"/>
              </a:rPr>
              <a:t>STEP 3</a:t>
            </a:r>
          </a:p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Crop the animal</a:t>
            </a:r>
          </a:p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F6E3DA"/>
                </a:solidFill>
                <a:latin typeface="Calibri"/>
              </a:rPr>
              <a:t>Padded box, about 2× zoom. Whole frame if confidence &lt; 0.15.</a:t>
            </a:r>
          </a:p>
        </p:txBody>
      </p:sp>
      <p:pic>
        <p:nvPicPr>
          <p:cNvPr id="17" name="Picture 16" descr="LuArrowRight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4160520"/>
            <a:ext cx="274320" cy="27432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308592" y="2697480"/>
            <a:ext cx="2514600" cy="315468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Picture 18" descr="LuBrainCircuit_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2912" y="2971800"/>
            <a:ext cx="566928" cy="566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82912" y="3703320"/>
            <a:ext cx="2057400" cy="2148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1" i="0" spc="120">
                <a:solidFill>
                  <a:srgbClr val="C9A66B"/>
                </a:solidFill>
                <a:latin typeface="Calibri"/>
              </a:rPr>
              <a:t>STEP 4</a:t>
            </a:r>
          </a:p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A1A17"/>
                </a:solidFill>
                <a:latin typeface="Calibri"/>
              </a:rPr>
              <a:t>Pretrained features</a:t>
            </a:r>
          </a:p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5F5C55"/>
                </a:solidFill>
                <a:latin typeface="Calibri"/>
              </a:rPr>
              <a:t>BioCLIP (biology CLIP) or SpeciesNet (camera-trap model).</a:t>
            </a:r>
          </a:p>
        </p:txBody>
      </p:sp>
      <p:pic>
        <p:nvPicPr>
          <p:cNvPr id="21" name="Picture 20" descr="LuArrowRight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0624" y="4160520"/>
            <a:ext cx="274320" cy="27432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12152376" y="2697480"/>
            <a:ext cx="2514600" cy="315468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3" name="Picture 22" descr="LuLayers_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26696" y="2971800"/>
            <a:ext cx="566928" cy="5669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426696" y="3703320"/>
            <a:ext cx="2057400" cy="2148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1" i="0" spc="120">
                <a:solidFill>
                  <a:srgbClr val="C9A66B"/>
                </a:solidFill>
                <a:latin typeface="Calibri"/>
              </a:rPr>
              <a:t>STEP 5</a:t>
            </a:r>
          </a:p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A1A17"/>
                </a:solidFill>
                <a:latin typeface="Calibri"/>
              </a:rPr>
              <a:t>Classifier head</a:t>
            </a:r>
          </a:p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5F5C55"/>
                </a:solidFill>
                <a:latin typeface="Calibri"/>
              </a:rPr>
              <a:t>Logistic regression, XGBoost or a small MLP on our 10 classes.</a:t>
            </a:r>
          </a:p>
        </p:txBody>
      </p:sp>
      <p:pic>
        <p:nvPicPr>
          <p:cNvPr id="25" name="Picture 24" descr="LuArrowRight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94408" y="4160520"/>
            <a:ext cx="274320" cy="27432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4996159" y="2697480"/>
            <a:ext cx="2514600" cy="315468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7" name="Picture 26" descr="LuVote_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70480" y="2971800"/>
            <a:ext cx="566928" cy="5669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270480" y="3703320"/>
            <a:ext cx="2057400" cy="2148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1" i="0" spc="120">
                <a:solidFill>
                  <a:srgbClr val="C9A66B"/>
                </a:solidFill>
                <a:latin typeface="Calibri"/>
              </a:rPr>
              <a:t>STEP 6</a:t>
            </a:r>
          </a:p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A1A17"/>
                </a:solidFill>
                <a:latin typeface="Calibri"/>
              </a:rPr>
              <a:t>Vote per burst</a:t>
            </a:r>
          </a:p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5F5C55"/>
                </a:solidFill>
                <a:latin typeface="Calibri"/>
              </a:rPr>
              <a:t>One answer per event: the most confident frame decides.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6263640"/>
            <a:ext cx="7635240" cy="283464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274320" rIns="411480" bIns="274320" rtlCol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300" b="1" i="0" spc="140">
                <a:solidFill>
                  <a:srgbClr val="B5451B"/>
                </a:solidFill>
                <a:latin typeface="Calibri"/>
              </a:rPr>
              <a:t>WHAT WE PROPOSED</a:t>
            </a:r>
          </a:p>
          <a:p>
            <a:pPr algn="l">
              <a:lnSpc>
                <a:spcPct val="110000"/>
              </a:lnSpc>
            </a:pPr>
            <a:r>
              <a:rPr sz="2100" b="0" i="0">
                <a:solidFill>
                  <a:srgbClr val="1A1A17"/>
                </a:solidFill>
                <a:latin typeface="Calibri"/>
              </a:rPr>
              <a:t>Train a CNN from scratch with no pretrained weights, and use classical ML on metadata as the baseline to beat.</a:t>
            </a:r>
          </a:p>
        </p:txBody>
      </p:sp>
      <p:pic>
        <p:nvPicPr>
          <p:cNvPr id="30" name="Picture 29" descr="LuArrowRight_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69680" y="7406640"/>
            <a:ext cx="548640" cy="54864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9875519" y="6263640"/>
            <a:ext cx="7635240" cy="2834640"/>
          </a:xfrm>
          <a:prstGeom prst="roundRect">
            <a:avLst>
              <a:gd name="adj" fmla="val 6000"/>
            </a:avLst>
          </a:prstGeom>
          <a:solidFill>
            <a:srgbClr val="1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274320" rIns="411480" bIns="274320" rtlCol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300" b="1" i="0" spc="140">
                <a:solidFill>
                  <a:srgbClr val="C9A66B"/>
                </a:solidFill>
                <a:latin typeface="Calibri"/>
              </a:rPr>
              <a:t>WHAT THE DATA TOLD US</a:t>
            </a:r>
          </a:p>
          <a:p>
            <a:pPr algn="l">
              <a:lnSpc>
                <a:spcPct val="110000"/>
              </a:lnSpc>
            </a:pPr>
            <a:r>
              <a:rPr sz="2100" b="0" i="0">
                <a:solidFill>
                  <a:srgbClr val="FFFFFF"/>
                </a:solidFill>
                <a:latin typeface="Calibri"/>
              </a:rPr>
              <a:t>The scratch CNN plateaued at 0.32 honest F1 and regularisation did not help on new cameras — so we moved to pretrained, camera-trap-specific features and kept LR / XGBoost as the heads.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63" b="-84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Section Header"/>
          <p:cNvSpPr txBox="1"/>
          <p:nvPr/>
        </p:nvSpPr>
        <p:spPr>
          <a:xfrm>
            <a:off x="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777240" indent="-388620" algn="l">
              <a:buFont typeface="Arial"/>
              <a:buChar char="•"/>
            </a:pPr>
            <a:r>
              <a:rPr sz="3600" b="1" i="0">
                <a:solidFill>
                  <a:srgbClr val="B5451B"/>
                </a:solidFill>
                <a:latin typeface="Cambria"/>
              </a:rPr>
              <a:t>Approach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777240" y="1188720"/>
            <a:ext cx="167335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1A1A17"/>
                </a:solidFill>
                <a:latin typeface="Cambria"/>
              </a:rPr>
              <a:t>Evaluation built for new cameras, not memorised 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5394960" cy="4572000"/>
          </a:xfrm>
          <a:prstGeom prst="roundRect">
            <a:avLst>
              <a:gd name="adj" fmla="val 5000"/>
            </a:avLst>
          </a:prstGeom>
          <a:solidFill>
            <a:srgbClr val="1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1188720" y="2606040"/>
            <a:ext cx="822960" cy="822960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LuSplit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3886" y="2791206"/>
            <a:ext cx="452628" cy="4526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88720" y="3657600"/>
            <a:ext cx="4663440" cy="3108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 spc="140">
                <a:solidFill>
                  <a:srgbClr val="C9A66B"/>
                </a:solidFill>
                <a:latin typeface="Calibri"/>
              </a:rPr>
              <a:t>SPLIT BY CAMERA</a:t>
            </a:r>
          </a:p>
          <a:p>
            <a:pPr algn="l">
              <a:spcAft>
                <a:spcPts val="1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Official WILDS splits</a:t>
            </a:r>
          </a:p>
          <a:p>
            <a:pPr marL="274320" indent="-274320" algn="l">
              <a:lnSpc>
                <a:spcPct val="105000"/>
              </a:lnSpc>
              <a:spcAft>
                <a:spcPts val="1200"/>
              </a:spcAft>
              <a:buClr>
                <a:srgbClr val="C9A66B"/>
              </a:buClr>
              <a:buFont typeface="Arial"/>
              <a:buChar char="•"/>
            </a:pPr>
            <a:r>
              <a:rPr sz="1900" b="0" i="0">
                <a:solidFill>
                  <a:srgbClr val="CBD4C7"/>
                </a:solidFill>
                <a:latin typeface="Calibri"/>
              </a:rPr>
              <a:t>Test cameras never appear in training</a:t>
            </a:r>
          </a:p>
          <a:p>
            <a:pPr marL="274320" indent="-274320" algn="l">
              <a:lnSpc>
                <a:spcPct val="105000"/>
              </a:lnSpc>
              <a:spcAft>
                <a:spcPts val="1200"/>
              </a:spcAft>
              <a:buClr>
                <a:srgbClr val="C9A66B"/>
              </a:buClr>
              <a:buFont typeface="Arial"/>
              <a:buChar char="•"/>
            </a:pPr>
            <a:r>
              <a:rPr sz="1900" b="0" i="0">
                <a:solidFill>
                  <a:srgbClr val="CBD4C7"/>
                </a:solidFill>
                <a:latin typeface="Calibri"/>
              </a:rPr>
              <a:t>ood_val: 29 unseen cameras, 4,361 images</a:t>
            </a:r>
          </a:p>
          <a:p>
            <a:pPr marL="274320" indent="-274320" algn="l">
              <a:lnSpc>
                <a:spcPct val="105000"/>
              </a:lnSpc>
              <a:spcAft>
                <a:spcPts val="1200"/>
              </a:spcAft>
              <a:buClr>
                <a:srgbClr val="C9A66B"/>
              </a:buClr>
              <a:buFont typeface="Arial"/>
              <a:buChar char="•"/>
            </a:pPr>
            <a:r>
              <a:rPr sz="1900" b="0" i="0">
                <a:solidFill>
                  <a:srgbClr val="CBD4C7"/>
                </a:solidFill>
                <a:latin typeface="Calibri"/>
              </a:rPr>
              <a:t>id_test kept to measure the seen-vs-unseen 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2240280"/>
            <a:ext cx="5394960" cy="4572000"/>
          </a:xfrm>
          <a:prstGeom prst="roundRect">
            <a:avLst>
              <a:gd name="adj" fmla="val 5000"/>
            </a:avLst>
          </a:prstGeom>
          <a:solidFill>
            <a:srgbClr val="1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6858000" y="2606040"/>
            <a:ext cx="822960" cy="822960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LuTarget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3166" y="2791206"/>
            <a:ext cx="452628" cy="4526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0" y="3657600"/>
            <a:ext cx="4663440" cy="3108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 spc="140">
                <a:solidFill>
                  <a:srgbClr val="C9A66B"/>
                </a:solidFill>
                <a:latin typeface="Calibri"/>
              </a:rPr>
              <a:t>SELECT WITHOUT PEEKING</a:t>
            </a:r>
          </a:p>
          <a:p>
            <a:pPr algn="l">
              <a:spcAft>
                <a:spcPts val="1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Held-out selection cameras</a:t>
            </a:r>
          </a:p>
          <a:p>
            <a:pPr marL="274320" indent="-274320" algn="l">
              <a:lnSpc>
                <a:spcPct val="105000"/>
              </a:lnSpc>
              <a:spcAft>
                <a:spcPts val="1200"/>
              </a:spcAft>
              <a:buClr>
                <a:srgbClr val="C9A66B"/>
              </a:buClr>
              <a:buFont typeface="Arial"/>
              <a:buChar char="•"/>
            </a:pPr>
            <a:r>
              <a:rPr sz="1900" b="0" i="0">
                <a:solidFill>
                  <a:srgbClr val="CBD4C7"/>
                </a:solidFill>
                <a:latin typeface="Calibri"/>
              </a:rPr>
              <a:t>36 training cameras (4,529 images) held out to choose models</a:t>
            </a:r>
          </a:p>
          <a:p>
            <a:pPr marL="274320" indent="-274320" algn="l">
              <a:lnSpc>
                <a:spcPct val="105000"/>
              </a:lnSpc>
              <a:spcAft>
                <a:spcPts val="1200"/>
              </a:spcAft>
              <a:buClr>
                <a:srgbClr val="C9A66B"/>
              </a:buClr>
              <a:buFont typeface="Arial"/>
              <a:buChar char="•"/>
            </a:pPr>
            <a:r>
              <a:rPr sz="1900" b="0" i="0">
                <a:solidFill>
                  <a:srgbClr val="CBD4C7"/>
                </a:solidFill>
                <a:latin typeface="Calibri"/>
              </a:rPr>
              <a:t>Test split read once, after the choice</a:t>
            </a:r>
          </a:p>
          <a:p>
            <a:pPr marL="274320" indent="-274320" algn="l">
              <a:lnSpc>
                <a:spcPct val="105000"/>
              </a:lnSpc>
              <a:spcAft>
                <a:spcPts val="1200"/>
              </a:spcAft>
              <a:buClr>
                <a:srgbClr val="C9A66B"/>
              </a:buClr>
              <a:buFont typeface="Arial"/>
              <a:buChar char="•"/>
            </a:pPr>
            <a:r>
              <a:rPr sz="1900" b="0" i="0">
                <a:solidFill>
                  <a:srgbClr val="CBD4C7"/>
                </a:solidFill>
                <a:latin typeface="Calibri"/>
              </a:rPr>
              <a:t>One-standard-error rule, bootstrapped over cameras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115800" y="2240280"/>
            <a:ext cx="5394960" cy="4572000"/>
          </a:xfrm>
          <a:prstGeom prst="roundRect">
            <a:avLst>
              <a:gd name="adj" fmla="val 5000"/>
            </a:avLst>
          </a:prstGeom>
          <a:solidFill>
            <a:srgbClr val="1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527280" y="2606040"/>
            <a:ext cx="822960" cy="822960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LuShieldCheck_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12446" y="2791206"/>
            <a:ext cx="452628" cy="4526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527280" y="3657600"/>
            <a:ext cx="4663440" cy="3108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 i="0" spc="140">
                <a:solidFill>
                  <a:srgbClr val="C9A66B"/>
                </a:solidFill>
                <a:latin typeface="Calibri"/>
              </a:rPr>
              <a:t>HONEST METRIC</a:t>
            </a:r>
          </a:p>
          <a:p>
            <a:pPr algn="l">
              <a:spcAft>
                <a:spcPts val="1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Honest macro F1</a:t>
            </a:r>
          </a:p>
          <a:p>
            <a:pPr marL="274320" indent="-274320" algn="l">
              <a:lnSpc>
                <a:spcPct val="105000"/>
              </a:lnSpc>
              <a:spcAft>
                <a:spcPts val="1200"/>
              </a:spcAft>
              <a:buClr>
                <a:srgbClr val="C9A66B"/>
              </a:buClr>
              <a:buFont typeface="Arial"/>
              <a:buChar char="•"/>
            </a:pPr>
            <a:r>
              <a:rPr sz="1900" b="0" i="0">
                <a:solidFill>
                  <a:srgbClr val="CBD4C7"/>
                </a:solidFill>
                <a:latin typeface="Calibri"/>
              </a:rPr>
              <a:t>Macro F1 over the 8 classes that need the animal to be seen</a:t>
            </a:r>
          </a:p>
          <a:p>
            <a:pPr marL="274320" indent="-274320" algn="l">
              <a:lnSpc>
                <a:spcPct val="105000"/>
              </a:lnSpc>
              <a:spcAft>
                <a:spcPts val="1200"/>
              </a:spcAft>
              <a:buClr>
                <a:srgbClr val="C9A66B"/>
              </a:buClr>
              <a:buFont typeface="Arial"/>
              <a:buChar char="•"/>
            </a:pPr>
            <a:r>
              <a:rPr sz="1900" b="0" i="0">
                <a:solidFill>
                  <a:srgbClr val="CBD4C7"/>
                </a:solidFill>
                <a:latin typeface="Calibri"/>
              </a:rPr>
              <a:t>Excludes duiker and empty (separable by site)</a:t>
            </a:r>
          </a:p>
          <a:p>
            <a:pPr marL="274320" indent="-274320" algn="l">
              <a:lnSpc>
                <a:spcPct val="105000"/>
              </a:lnSpc>
              <a:spcAft>
                <a:spcPts val="1200"/>
              </a:spcAft>
              <a:buClr>
                <a:srgbClr val="C9A66B"/>
              </a:buClr>
              <a:buFont typeface="Arial"/>
              <a:buChar char="•"/>
            </a:pPr>
            <a:r>
              <a:rPr sz="1900" b="0" i="0">
                <a:solidFill>
                  <a:srgbClr val="CBD4C7"/>
                </a:solidFill>
                <a:latin typeface="Calibri"/>
              </a:rPr>
              <a:t>Reported per image and per burst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7178040"/>
            <a:ext cx="16733520" cy="155448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82880" rIns="411480" bIns="182880" rtlCol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 spc="140">
                <a:solidFill>
                  <a:srgbClr val="B5451B"/>
                </a:solidFill>
                <a:latin typeface="Calibri"/>
              </a:rPr>
              <a:t>WHY IT MATTERS   </a:t>
            </a:r>
            <a:r>
              <a:rPr sz="1900" b="0" i="0">
                <a:solidFill>
                  <a:srgbClr val="1A1A17"/>
                </a:solidFill>
                <a:latin typeface="Calibri"/>
              </a:rPr>
              <a:t>Choosing on held-out cameras instead of the test set cost only 0.014 F1 in the final notebook, and 84% of model rankings on the selection cameras matched the test ranking — the selection signal was real.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63" b="-84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Section Header"/>
          <p:cNvSpPr txBox="1"/>
          <p:nvPr/>
        </p:nvSpPr>
        <p:spPr>
          <a:xfrm>
            <a:off x="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777240" indent="-388620" algn="l">
              <a:buFont typeface="Arial"/>
              <a:buChar char="•"/>
            </a:pPr>
            <a:r>
              <a:rPr sz="3600" b="1" i="0">
                <a:solidFill>
                  <a:srgbClr val="B5451B"/>
                </a:solidFill>
                <a:latin typeface="Cambria"/>
              </a:rPr>
              <a:t>Models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777240" y="1188720"/>
            <a:ext cx="167335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1A1A17"/>
                </a:solidFill>
                <a:latin typeface="Cambria"/>
              </a:rPr>
              <a:t>Five model families, each fixing the last one's weakness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50008" y="2697480"/>
            <a:ext cx="13587984" cy="0"/>
          </a:xfrm>
          <a:prstGeom prst="line">
            <a:avLst/>
          </a:prstGeom>
          <a:ln w="25400">
            <a:solidFill>
              <a:srgbClr val="BDB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121408" y="2468880"/>
            <a:ext cx="457200" cy="457200"/>
          </a:xfrm>
          <a:prstGeom prst="ellipse">
            <a:avLst/>
          </a:prstGeom>
          <a:solidFill>
            <a:srgbClr val="1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3145536" cy="525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3474720"/>
            <a:ext cx="2642615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C9A66B"/>
                </a:solidFill>
                <a:latin typeface="Cambria"/>
              </a:rPr>
              <a:t>01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1A1A17"/>
                </a:solidFill>
                <a:latin typeface="Calibri"/>
              </a:rPr>
              <a:t>CNN from scratch</a:t>
            </a:r>
          </a:p>
          <a:p>
            <a:pPr algn="l">
              <a:spcAft>
                <a:spcPts val="800"/>
              </a:spcAft>
            </a:pPr>
            <a:r>
              <a:rPr sz="1100" b="1" i="0" spc="80">
                <a:solidFill>
                  <a:srgbClr val="C9A66B"/>
                </a:solidFill>
                <a:latin typeface="Calibri"/>
              </a:rPr>
              <a:t>DEEP LEARNING · OUR OWN NETWORK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F5C55"/>
                </a:solidFill>
                <a:latin typeface="Calibri"/>
              </a:rPr>
              <a:t>A small CNN trained only on our photos (64–128 px), as proposed.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623560"/>
            <a:ext cx="2642615" cy="11887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 i="0" spc="100">
                <a:solidFill>
                  <a:srgbClr val="B5451B"/>
                </a:solidFill>
                <a:latin typeface="Calibri"/>
              </a:rPr>
              <a:t>LESSON</a:t>
            </a:r>
          </a:p>
          <a:p>
            <a:pPr algn="l">
              <a:lnSpc>
                <a:spcPct val="102000"/>
              </a:lnSpc>
            </a:pPr>
            <a:r>
              <a:rPr sz="1400" b="0" i="1">
                <a:solidFill>
                  <a:srgbClr val="1A1A17"/>
                </a:solidFill>
                <a:latin typeface="Calibri"/>
              </a:rPr>
              <a:t>Less overfitting helped seen cameras (0.489 → 0.545) but unseen cameras stayed flat.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7132320"/>
            <a:ext cx="2779776" cy="118872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3000" b="1" i="0">
                <a:solidFill>
                  <a:srgbClr val="B5451B"/>
                </a:solidFill>
                <a:latin typeface="Cambria"/>
              </a:rPr>
              <a:t>0.320</a:t>
            </a:r>
          </a:p>
          <a:p>
            <a:pPr algn="ctr"/>
            <a:r>
              <a:rPr sz="1200" b="0" i="0">
                <a:solidFill>
                  <a:srgbClr val="5F5C55"/>
                </a:solidFill>
                <a:latin typeface="Calibri"/>
              </a:rPr>
              <a:t>honest F1, unseen cameras</a:t>
            </a:r>
          </a:p>
        </p:txBody>
      </p:sp>
      <p:sp>
        <p:nvSpPr>
          <p:cNvPr id="11" name="Oval 10"/>
          <p:cNvSpPr/>
          <p:nvPr/>
        </p:nvSpPr>
        <p:spPr>
          <a:xfrm>
            <a:off x="5518403" y="2468880"/>
            <a:ext cx="457200" cy="457200"/>
          </a:xfrm>
          <a:prstGeom prst="ellipse">
            <a:avLst/>
          </a:prstGeom>
          <a:solidFill>
            <a:srgbClr val="1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174235" y="3246120"/>
            <a:ext cx="3145536" cy="525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48555" y="3474720"/>
            <a:ext cx="2642615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C9A66B"/>
                </a:solidFill>
                <a:latin typeface="Cambria"/>
              </a:rPr>
              <a:t>02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1A1A17"/>
                </a:solidFill>
                <a:latin typeface="Calibri"/>
              </a:rPr>
              <a:t>ResNet-18 fine-tuned</a:t>
            </a:r>
          </a:p>
          <a:p>
            <a:pPr algn="l">
              <a:spcAft>
                <a:spcPts val="800"/>
              </a:spcAft>
            </a:pPr>
            <a:r>
              <a:rPr sz="1100" b="1" i="0" spc="80">
                <a:solidFill>
                  <a:srgbClr val="C9A66B"/>
                </a:solidFill>
                <a:latin typeface="Calibri"/>
              </a:rPr>
              <a:t>DEEP LEARNING · TRANSFER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F5C55"/>
                </a:solidFill>
                <a:latin typeface="Calibri"/>
              </a:rPr>
              <a:t>ImageNet-pretrained, 192 px, layer-wise learning rates, mixup and label smoothing.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8555" y="5623560"/>
            <a:ext cx="2642615" cy="11887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 i="0" spc="100">
                <a:solidFill>
                  <a:srgbClr val="B5451B"/>
                </a:solidFill>
                <a:latin typeface="Calibri"/>
              </a:rPr>
              <a:t>LESSON</a:t>
            </a:r>
          </a:p>
          <a:p>
            <a:pPr algn="l">
              <a:lnSpc>
                <a:spcPct val="102000"/>
              </a:lnSpc>
            </a:pPr>
            <a:r>
              <a:rPr sz="1400" b="0" i="1">
                <a:solidFill>
                  <a:srgbClr val="1A1A17"/>
                </a:solidFill>
                <a:latin typeface="Calibri"/>
              </a:rPr>
              <a:t>Pretraining gave +0.10; all the tuning after that only +0.025.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7116" y="7132320"/>
            <a:ext cx="2779776" cy="118872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3000" b="1" i="0">
                <a:solidFill>
                  <a:srgbClr val="B5451B"/>
                </a:solidFill>
                <a:latin typeface="Cambria"/>
              </a:rPr>
              <a:t>0.446</a:t>
            </a:r>
          </a:p>
          <a:p>
            <a:pPr algn="ctr"/>
            <a:r>
              <a:rPr sz="1200" b="0" i="0">
                <a:solidFill>
                  <a:srgbClr val="5F5C55"/>
                </a:solidFill>
                <a:latin typeface="Calibri"/>
              </a:rPr>
              <a:t>honest F1, unseen cameras</a:t>
            </a:r>
          </a:p>
        </p:txBody>
      </p:sp>
      <p:sp>
        <p:nvSpPr>
          <p:cNvPr id="16" name="Oval 15"/>
          <p:cNvSpPr/>
          <p:nvPr/>
        </p:nvSpPr>
        <p:spPr>
          <a:xfrm>
            <a:off x="8915400" y="2468880"/>
            <a:ext cx="457200" cy="457200"/>
          </a:xfrm>
          <a:prstGeom prst="ellipse">
            <a:avLst/>
          </a:prstGeom>
          <a:solidFill>
            <a:srgbClr val="1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571231" y="3246120"/>
            <a:ext cx="3145536" cy="525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45552" y="3474720"/>
            <a:ext cx="2642615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C9A66B"/>
                </a:solidFill>
                <a:latin typeface="Cambria"/>
              </a:rPr>
              <a:t>03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1A1A17"/>
                </a:solidFill>
                <a:latin typeface="Calibri"/>
              </a:rPr>
              <a:t>EfficientNetV2-S + XGBoost</a:t>
            </a:r>
          </a:p>
          <a:p>
            <a:pPr algn="l">
              <a:spcAft>
                <a:spcPts val="800"/>
              </a:spcAft>
            </a:pPr>
            <a:r>
              <a:rPr sz="1100" b="1" i="0" spc="80">
                <a:solidFill>
                  <a:srgbClr val="C9A66B"/>
                </a:solidFill>
                <a:latin typeface="Calibri"/>
              </a:rPr>
              <a:t>EMBEDDINGS + BOOSTING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F5C55"/>
                </a:solidFill>
                <a:latin typeface="Calibri"/>
              </a:rPr>
              <a:t>Frozen pretrained image features fed to a gradient-boosted tree classifier.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5623560"/>
            <a:ext cx="2642615" cy="11887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 i="0" spc="100">
                <a:solidFill>
                  <a:srgbClr val="B5451B"/>
                </a:solidFill>
                <a:latin typeface="Calibri"/>
              </a:rPr>
              <a:t>LESSON</a:t>
            </a:r>
          </a:p>
          <a:p>
            <a:pPr algn="l">
              <a:lnSpc>
                <a:spcPct val="102000"/>
              </a:lnSpc>
            </a:pPr>
            <a:r>
              <a:rPr sz="1400" b="0" i="1">
                <a:solidFill>
                  <a:srgbClr val="1A1A17"/>
                </a:solidFill>
                <a:latin typeface="Calibri"/>
              </a:rPr>
              <a:t>Frozen features + boosting matched full fine-tuning at a fraction of the cost.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54111" y="7132320"/>
            <a:ext cx="2779776" cy="118872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3000" b="1" i="0">
                <a:solidFill>
                  <a:srgbClr val="B5451B"/>
                </a:solidFill>
                <a:latin typeface="Cambria"/>
              </a:rPr>
              <a:t>0.437</a:t>
            </a:r>
          </a:p>
          <a:p>
            <a:pPr algn="ctr"/>
            <a:r>
              <a:rPr sz="1200" b="0" i="0">
                <a:solidFill>
                  <a:srgbClr val="5F5C55"/>
                </a:solidFill>
                <a:latin typeface="Calibri"/>
              </a:rPr>
              <a:t>honest F1, unseen cameras</a:t>
            </a:r>
          </a:p>
        </p:txBody>
      </p:sp>
      <p:sp>
        <p:nvSpPr>
          <p:cNvPr id="21" name="Oval 20"/>
          <p:cNvSpPr/>
          <p:nvPr/>
        </p:nvSpPr>
        <p:spPr>
          <a:xfrm>
            <a:off x="12312396" y="2468880"/>
            <a:ext cx="457200" cy="457200"/>
          </a:xfrm>
          <a:prstGeom prst="ellipse">
            <a:avLst/>
          </a:prstGeom>
          <a:solidFill>
            <a:srgbClr val="1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968228" y="3246120"/>
            <a:ext cx="3145536" cy="525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242548" y="3474720"/>
            <a:ext cx="2642615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C9A66B"/>
                </a:solidFill>
                <a:latin typeface="Cambria"/>
              </a:rPr>
              <a:t>04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1A1A17"/>
                </a:solidFill>
                <a:latin typeface="Calibri"/>
              </a:rPr>
              <a:t>BioCLIP + LR / XGBoost</a:t>
            </a:r>
          </a:p>
          <a:p>
            <a:pPr algn="l">
              <a:spcAft>
                <a:spcPts val="800"/>
              </a:spcAft>
            </a:pPr>
            <a:r>
              <a:rPr sz="1100" b="1" i="0" spc="80">
                <a:solidFill>
                  <a:srgbClr val="C9A66B"/>
                </a:solidFill>
                <a:latin typeface="Calibri"/>
              </a:rPr>
              <a:t>CROPS + CLASSICAL ML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F5C55"/>
                </a:solidFill>
                <a:latin typeface="Calibri"/>
              </a:rPr>
              <a:t>Biology-specific CLIP features of the MegaDetector crop, plus time-of-day and box features.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2548" y="5623560"/>
            <a:ext cx="2642615" cy="11887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 i="0" spc="100">
                <a:solidFill>
                  <a:srgbClr val="B5451B"/>
                </a:solidFill>
                <a:latin typeface="Calibri"/>
              </a:rPr>
              <a:t>LESSON</a:t>
            </a:r>
          </a:p>
          <a:p>
            <a:pPr algn="l">
              <a:lnSpc>
                <a:spcPct val="102000"/>
              </a:lnSpc>
            </a:pPr>
            <a:r>
              <a:rPr sz="1400" b="0" i="1">
                <a:solidFill>
                  <a:srgbClr val="1A1A17"/>
                </a:solidFill>
                <a:latin typeface="Calibri"/>
              </a:rPr>
              <a:t>Cropping beat the full frame by +0.11; LR and XGBoost tied.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151107" y="7132320"/>
            <a:ext cx="2779776" cy="118872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3000" b="1" i="0">
                <a:solidFill>
                  <a:srgbClr val="B5451B"/>
                </a:solidFill>
                <a:latin typeface="Cambria"/>
              </a:rPr>
              <a:t>0.598</a:t>
            </a:r>
          </a:p>
          <a:p>
            <a:pPr algn="ctr"/>
            <a:r>
              <a:rPr sz="1200" b="0" i="0">
                <a:solidFill>
                  <a:srgbClr val="5F5C55"/>
                </a:solidFill>
                <a:latin typeface="Calibri"/>
              </a:rPr>
              <a:t>honest F1, unseen cameras</a:t>
            </a:r>
          </a:p>
        </p:txBody>
      </p:sp>
      <p:sp>
        <p:nvSpPr>
          <p:cNvPr id="26" name="Oval 25"/>
          <p:cNvSpPr/>
          <p:nvPr/>
        </p:nvSpPr>
        <p:spPr>
          <a:xfrm>
            <a:off x="15709392" y="2468880"/>
            <a:ext cx="457200" cy="457200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4365224" y="3246120"/>
            <a:ext cx="3145536" cy="525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B5451B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639543" y="3474720"/>
            <a:ext cx="2642615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B5451B"/>
                </a:solidFill>
                <a:latin typeface="Cambria"/>
              </a:rPr>
              <a:t>05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1A1A17"/>
                </a:solidFill>
                <a:latin typeface="Calibri"/>
              </a:rPr>
              <a:t>SpeciesNet + MLP</a:t>
            </a:r>
          </a:p>
          <a:p>
            <a:pPr algn="l">
              <a:spcAft>
                <a:spcPts val="800"/>
              </a:spcAft>
            </a:pPr>
            <a:r>
              <a:rPr sz="1100" b="1" i="0" spc="80">
                <a:solidFill>
                  <a:srgbClr val="C9A66B"/>
                </a:solidFill>
                <a:latin typeface="Calibri"/>
              </a:rPr>
              <a:t>CAMERA-TRAP FOUNDATION MODEL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F5C55"/>
                </a:solidFill>
                <a:latin typeface="Calibri"/>
              </a:rPr>
              <a:t>Google's EfficientNetV2-M trained on 65M camera-trap images; a small MLP maps its label scores to our 10 classes.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9543" y="5623560"/>
            <a:ext cx="2642615" cy="11887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 i="0" spc="100">
                <a:solidFill>
                  <a:srgbClr val="B5451B"/>
                </a:solidFill>
                <a:latin typeface="Calibri"/>
              </a:rPr>
              <a:t>LESSON</a:t>
            </a:r>
          </a:p>
          <a:p>
            <a:pPr algn="l">
              <a:lnSpc>
                <a:spcPct val="102000"/>
              </a:lnSpc>
            </a:pPr>
            <a:r>
              <a:rPr sz="1400" b="0" i="1">
                <a:solidFill>
                  <a:srgbClr val="1A1A17"/>
                </a:solidFill>
                <a:latin typeface="Calibri"/>
              </a:rPr>
              <a:t>Best on every metric; zero-shot alone already reached 0.825 per burst.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548103" y="7132320"/>
            <a:ext cx="2779776" cy="1188720"/>
          </a:xfrm>
          <a:prstGeom prst="roundRect">
            <a:avLst>
              <a:gd name="adj" fmla="val 6000"/>
            </a:avLst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0.734</a:t>
            </a:r>
          </a:p>
          <a:p>
            <a:pPr algn="ctr"/>
            <a:r>
              <a:rPr sz="1200" b="0" i="0">
                <a:solidFill>
                  <a:srgbClr val="F6E3DA"/>
                </a:solidFill>
                <a:latin typeface="Calibri"/>
              </a:rPr>
              <a:t>honest F1, unseen cameras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8732520"/>
            <a:ext cx="167335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5F5C55"/>
                </a:solidFill>
                <a:latin typeface="Calibri"/>
              </a:rPr>
              <a:t>Honest F1 = macro F1 over 8 classes on the 29 unseen cameras, per image. Also tried along the way: background-subtraction crops (0.510) and SpeciesNet zero-shot with no training at all (0.825 per burst).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" r="-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155436" y="7886694"/>
            <a:ext cx="11625245" cy="3196942"/>
          </a:xfrm>
          <a:custGeom>
            <a:avLst/>
            <a:gdLst/>
            <a:ahLst/>
            <a:cxnLst/>
            <a:rect l="l" t="t" r="r" b="b"/>
            <a:pathLst>
              <a:path w="11625245" h="3196942">
                <a:moveTo>
                  <a:pt x="0" y="0"/>
                </a:moveTo>
                <a:lnTo>
                  <a:pt x="11625245" y="0"/>
                </a:lnTo>
                <a:lnTo>
                  <a:pt x="11625245" y="3196942"/>
                </a:lnTo>
                <a:lnTo>
                  <a:pt x="0" y="31969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607688" y="9007153"/>
            <a:ext cx="8776433" cy="2413519"/>
          </a:xfrm>
          <a:custGeom>
            <a:avLst/>
            <a:gdLst/>
            <a:ahLst/>
            <a:cxnLst/>
            <a:rect l="l" t="t" r="r" b="b"/>
            <a:pathLst>
              <a:path w="8776433" h="2413519">
                <a:moveTo>
                  <a:pt x="0" y="0"/>
                </a:moveTo>
                <a:lnTo>
                  <a:pt x="8776433" y="0"/>
                </a:lnTo>
                <a:lnTo>
                  <a:pt x="8776433" y="2413519"/>
                </a:lnTo>
                <a:lnTo>
                  <a:pt x="0" y="24135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596639">
            <a:off x="13027233" y="-3971321"/>
            <a:ext cx="6409840" cy="6249594"/>
          </a:xfrm>
          <a:custGeom>
            <a:avLst/>
            <a:gdLst/>
            <a:ahLst/>
            <a:cxnLst/>
            <a:rect l="l" t="t" r="r" b="b"/>
            <a:pathLst>
              <a:path w="6409840" h="6249594">
                <a:moveTo>
                  <a:pt x="0" y="0"/>
                </a:moveTo>
                <a:lnTo>
                  <a:pt x="6409840" y="0"/>
                </a:lnTo>
                <a:lnTo>
                  <a:pt x="6409840" y="6249594"/>
                </a:lnTo>
                <a:lnTo>
                  <a:pt x="0" y="6249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Section Header"/>
          <p:cNvSpPr txBox="1"/>
          <p:nvPr/>
        </p:nvSpPr>
        <p:spPr>
          <a:xfrm>
            <a:off x="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777240" indent="-388620" algn="l">
              <a:buFont typeface="Arial"/>
              <a:buChar char="•"/>
            </a:pPr>
            <a:r>
              <a:rPr sz="3600" b="1" i="0">
                <a:solidFill>
                  <a:srgbClr val="B5451B"/>
                </a:solidFill>
                <a:latin typeface="Cambria"/>
              </a:rPr>
              <a:t>Comparison</a:t>
            </a:r>
          </a:p>
        </p:txBody>
      </p:sp>
      <p:sp>
        <p:nvSpPr>
          <p:cNvPr id="7" name="Slide Title"/>
          <p:cNvSpPr txBox="1"/>
          <p:nvPr/>
        </p:nvSpPr>
        <p:spPr>
          <a:xfrm>
            <a:off x="777240" y="1188720"/>
            <a:ext cx="121615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1A1A17"/>
                </a:solidFill>
                <a:latin typeface="Cambria"/>
              </a:rPr>
              <a:t>Better inputs beat more tuning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10744200" cy="7360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005840" y="2331720"/>
          <a:ext cx="10287000" cy="6995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1887200" y="2148840"/>
            <a:ext cx="5623560" cy="17099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61520" y="2331720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200" b="1" i="0">
                <a:solidFill>
                  <a:srgbClr val="1F3B2C"/>
                </a:solidFill>
                <a:latin typeface="Cambria"/>
              </a:rPr>
              <a:t>+0.10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36040" y="2350008"/>
            <a:ext cx="3291840" cy="1371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A1A17"/>
                </a:solidFill>
                <a:latin typeface="Calibri"/>
              </a:rPr>
              <a:t>Pretraining</a:t>
            </a:r>
          </a:p>
          <a:p>
            <a:pPr algn="l">
              <a:lnSpc>
                <a:spcPct val="102000"/>
              </a:lnSpc>
            </a:pPr>
            <a:r>
              <a:rPr sz="1400" b="0" i="0">
                <a:solidFill>
                  <a:srgbClr val="5F5C55"/>
                </a:solidFill>
                <a:latin typeface="Calibri"/>
              </a:rPr>
              <a:t>Scratch CNN → ImageNet ResNet-18 (0.320 → 0.421)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0" y="4041648"/>
            <a:ext cx="5623560" cy="17099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161520" y="4224528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200" b="1" i="0">
                <a:solidFill>
                  <a:srgbClr val="5F5C55"/>
                </a:solidFill>
                <a:latin typeface="Cambria"/>
              </a:rPr>
              <a:t>+0.025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36040" y="4242816"/>
            <a:ext cx="3291840" cy="1371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A1A17"/>
                </a:solidFill>
                <a:latin typeface="Calibri"/>
              </a:rPr>
              <a:t>All the tuning in v3</a:t>
            </a:r>
          </a:p>
          <a:p>
            <a:pPr algn="l">
              <a:lnSpc>
                <a:spcPct val="102000"/>
              </a:lnSpc>
            </a:pPr>
            <a:r>
              <a:rPr sz="1400" b="0" i="0">
                <a:solidFill>
                  <a:srgbClr val="5F5C55"/>
                </a:solidFill>
                <a:latin typeface="Calibri"/>
              </a:rPr>
              <a:t>Resolution, layer-wise LR, mixup (0.421 → 0.446)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0" y="5934456"/>
            <a:ext cx="5623560" cy="17099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161520" y="6117336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200" b="1" i="0">
                <a:solidFill>
                  <a:srgbClr val="1F3B2C"/>
                </a:solidFill>
                <a:latin typeface="Cambria"/>
              </a:rPr>
              <a:t>+0.11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36040" y="6135624"/>
            <a:ext cx="3291840" cy="1371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A1A17"/>
                </a:solidFill>
                <a:latin typeface="Calibri"/>
              </a:rPr>
              <a:t>Cropping the animal</a:t>
            </a:r>
          </a:p>
          <a:p>
            <a:pPr algn="l">
              <a:lnSpc>
                <a:spcPct val="102000"/>
              </a:lnSpc>
            </a:pPr>
            <a:r>
              <a:rPr sz="1400" b="0" i="0">
                <a:solidFill>
                  <a:srgbClr val="5F5C55"/>
                </a:solidFill>
                <a:latin typeface="Calibri"/>
              </a:rPr>
              <a:t>BioCLIP full frame → MegaDetector crop (0.490 → 0.598)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0" y="7827263"/>
            <a:ext cx="5623560" cy="17099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161520" y="8010143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200" b="1" i="0">
                <a:solidFill>
                  <a:srgbClr val="B5451B"/>
                </a:solidFill>
                <a:latin typeface="Cambria"/>
              </a:rPr>
              <a:t>+0.14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36040" y="8028431"/>
            <a:ext cx="3291840" cy="1371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A1A17"/>
                </a:solidFill>
                <a:latin typeface="Calibri"/>
              </a:rPr>
              <a:t>Camera-trap foundation model</a:t>
            </a:r>
          </a:p>
          <a:p>
            <a:pPr algn="l">
              <a:lnSpc>
                <a:spcPct val="102000"/>
              </a:lnSpc>
            </a:pPr>
            <a:r>
              <a:rPr sz="1400" b="0" i="0">
                <a:solidFill>
                  <a:srgbClr val="5F5C55"/>
                </a:solidFill>
                <a:latin typeface="Calibri"/>
              </a:rPr>
              <a:t>BioCLIP pipeline → SpeciesNet (0.598 → 0.734)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63" b="-84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Section Header"/>
          <p:cNvSpPr txBox="1"/>
          <p:nvPr/>
        </p:nvSpPr>
        <p:spPr>
          <a:xfrm>
            <a:off x="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777240" indent="-388620" algn="l">
              <a:buFont typeface="Arial"/>
              <a:buChar char="•"/>
            </a:pPr>
            <a:r>
              <a:rPr sz="3600" b="1" i="0">
                <a:solidFill>
                  <a:srgbClr val="B5451B"/>
                </a:solidFill>
                <a:latin typeface="Cambria"/>
              </a:rPr>
              <a:t>Comparison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777240" y="1188720"/>
            <a:ext cx="167335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1A1A17"/>
                </a:solidFill>
                <a:latin typeface="Cambria"/>
              </a:rPr>
              <a:t>Full scoreboard on the 29 unseen cameras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62881"/>
              </p:ext>
            </p:extLst>
          </p:nvPr>
        </p:nvGraphicFramePr>
        <p:xfrm>
          <a:off x="777240" y="2478024"/>
          <a:ext cx="11292840" cy="5102352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 i="0" spc="4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B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spc="40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B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spc="40">
                          <a:solidFill>
                            <a:srgbClr val="FFFFF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B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spc="40">
                          <a:solidFill>
                            <a:srgbClr val="FFFFFF"/>
                          </a:solidFill>
                          <a:latin typeface="Calibri"/>
                        </a:rPr>
                        <a:t>HONEST F1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B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spc="40">
                          <a:solidFill>
                            <a:srgbClr val="FFFFFF"/>
                          </a:solidFill>
                          <a:latin typeface="Calibri"/>
                        </a:rPr>
                        <a:t>HONEST F1 / BURST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7"/>
                          </a:solidFill>
                          <a:latin typeface="Calibri"/>
                        </a:rPr>
                        <a:t>SmallCNN from scratch (64 px)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0.434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0.320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7"/>
                          </a:solidFill>
                          <a:latin typeface="Calibri"/>
                        </a:rPr>
                        <a:t>ResNet-18, single LR (128 px)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0.505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0.421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7"/>
                          </a:solidFill>
                          <a:latin typeface="Calibri"/>
                        </a:rPr>
                        <a:t>ResNet-18 v3 (192 px, layer-wise LR, mixup)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0.637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0.543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0.446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7"/>
                          </a:solidFill>
                          <a:latin typeface="Calibri"/>
                        </a:rPr>
                        <a:t>EfficientNetV2-S + XGBoost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0.581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0.512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0.437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7"/>
                          </a:solidFill>
                          <a:latin typeface="Calibri"/>
                        </a:rPr>
                        <a:t>BioCLIP, full frame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0.653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0.581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0.490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7"/>
                          </a:solidFill>
                          <a:latin typeface="Calibri"/>
                        </a:rPr>
                        <a:t>BioCLIP + background-subtraction crop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0.672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0.600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0.510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0.552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7"/>
                          </a:solidFill>
                          <a:latin typeface="Calibri"/>
                        </a:rPr>
                        <a:t>BioCLIP + MegaDetector crop (LR + XGBoost vote)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0.662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0.598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0.716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 i="0" dirty="0" err="1">
                          <a:solidFill>
                            <a:srgbClr val="1A1A17"/>
                          </a:solidFill>
                          <a:latin typeface="Calibri"/>
                        </a:rPr>
                        <a:t>SpeciesNet</a:t>
                      </a:r>
                      <a:r>
                        <a:rPr sz="1500" b="1" i="0" dirty="0">
                          <a:solidFill>
                            <a:srgbClr val="1A1A17"/>
                          </a:solidFill>
                          <a:latin typeface="Calibri"/>
                        </a:rPr>
                        <a:t> + MLP probe (final)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6E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B5451B"/>
                          </a:solidFill>
                          <a:latin typeface="Calibri"/>
                        </a:rPr>
                        <a:t>0.752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6E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B5451B"/>
                          </a:solidFill>
                          <a:latin typeface="Calibri"/>
                        </a:rPr>
                        <a:t>0.734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6E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dirty="0">
                          <a:solidFill>
                            <a:srgbClr val="B5451B"/>
                          </a:solidFill>
                          <a:latin typeface="Calibri"/>
                        </a:rPr>
                        <a:t>0.734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6E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dirty="0">
                          <a:solidFill>
                            <a:srgbClr val="B5451B"/>
                          </a:solidFill>
                          <a:latin typeface="Calibri"/>
                        </a:rPr>
                        <a:t>0.908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6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8001000"/>
            <a:ext cx="11292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5F5C55"/>
                </a:solidFill>
                <a:latin typeface="Calibri"/>
              </a:rPr>
              <a:t>Honest F1 = macro F1 over the 8 classes that need the animal (excludes duiker and empty). Per burst = one vote per trigger event. '–' = not reported in that notebook.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90120" y="2194560"/>
            <a:ext cx="5120640" cy="566928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710160" y="2468880"/>
            <a:ext cx="448056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1" i="0" spc="120">
                <a:solidFill>
                  <a:srgbClr val="B5451B"/>
                </a:solidFill>
                <a:latin typeface="Calibri"/>
              </a:rPr>
              <a:t>LOGISTIC REGRESSION VS XGBOOST</a:t>
            </a:r>
          </a:p>
          <a:p>
            <a:pPr algn="l"/>
            <a:r>
              <a:rPr sz="1500" b="0" i="0">
                <a:solidFill>
                  <a:srgbClr val="5F5C55"/>
                </a:solidFill>
                <a:latin typeface="Calibri"/>
              </a:rPr>
              <a:t>Same BioCLIP features, honest F1 on unseen cameras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2710160" y="3429000"/>
          <a:ext cx="4480560" cy="2267712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 spc="40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B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spc="40">
                          <a:solidFill>
                            <a:srgbClr val="FFFFFF"/>
                          </a:solidFill>
                          <a:latin typeface="Calibri"/>
                        </a:rPr>
                        <a:t>LOG. REG.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B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spc="40">
                          <a:solidFill>
                            <a:srgbClr val="FFFFFF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7"/>
                          </a:solidFill>
                          <a:latin typeface="Calibri"/>
                        </a:rPr>
                        <a:t>Full frame + meta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0.506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0.493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7"/>
                          </a:solidFill>
                          <a:latin typeface="Calibri"/>
                        </a:rPr>
                        <a:t>Crop + meta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0.580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0.582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7"/>
                          </a:solidFill>
                          <a:latin typeface="Calibri"/>
                        </a:rPr>
                        <a:t>Crop + frame + meta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0.571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7"/>
                          </a:solidFill>
                          <a:latin typeface="Calibri"/>
                        </a:rPr>
                        <a:t>0.570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AC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2710160" y="5943600"/>
            <a:ext cx="4480560" cy="178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A1A17"/>
                </a:solidFill>
                <a:latin typeface="Calibri"/>
              </a:rPr>
              <a:t>Soft vote of both on crops: </a:t>
            </a:r>
            <a:r>
              <a:rPr sz="1600" b="1" i="0">
                <a:solidFill>
                  <a:srgbClr val="B5451B"/>
                </a:solidFill>
                <a:latin typeface="Calibri"/>
              </a:rPr>
              <a:t>0.598</a:t>
            </a:r>
          </a:p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5F5C55"/>
                </a:solidFill>
                <a:latin typeface="Calibri"/>
              </a:rPr>
              <a:t>Near-identical scores: which classifier we used mattered far less than what we fed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82" r="-20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400000">
            <a:off x="11745888" y="-2420717"/>
            <a:ext cx="11572642" cy="3196942"/>
          </a:xfrm>
          <a:custGeom>
            <a:avLst/>
            <a:gdLst/>
            <a:ahLst/>
            <a:cxnLst/>
            <a:rect l="l" t="t" r="r" b="b"/>
            <a:pathLst>
              <a:path w="11572642" h="3196942">
                <a:moveTo>
                  <a:pt x="0" y="0"/>
                </a:moveTo>
                <a:lnTo>
                  <a:pt x="11572642" y="0"/>
                </a:lnTo>
                <a:lnTo>
                  <a:pt x="11572642" y="3196942"/>
                </a:lnTo>
                <a:lnTo>
                  <a:pt x="0" y="31969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5400000">
            <a:off x="-4849621" y="7736876"/>
            <a:ext cx="11572642" cy="3196942"/>
          </a:xfrm>
          <a:custGeom>
            <a:avLst/>
            <a:gdLst/>
            <a:ahLst/>
            <a:cxnLst/>
            <a:rect l="l" t="t" r="r" b="b"/>
            <a:pathLst>
              <a:path w="11572642" h="3196942">
                <a:moveTo>
                  <a:pt x="0" y="0"/>
                </a:moveTo>
                <a:lnTo>
                  <a:pt x="11572643" y="0"/>
                </a:lnTo>
                <a:lnTo>
                  <a:pt x="11572643" y="3196943"/>
                </a:lnTo>
                <a:lnTo>
                  <a:pt x="0" y="31969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Section Header"/>
          <p:cNvSpPr txBox="1"/>
          <p:nvPr/>
        </p:nvSpPr>
        <p:spPr>
          <a:xfrm>
            <a:off x="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777240" indent="-388620" algn="l">
              <a:buFont typeface="Arial"/>
              <a:buChar char="•"/>
            </a:pPr>
            <a:r>
              <a:rPr sz="3600" b="1" i="0">
                <a:solidFill>
                  <a:srgbClr val="B5451B"/>
                </a:solidFill>
                <a:latin typeface="Cambria"/>
              </a:rPr>
              <a:t>Final Model</a:t>
            </a:r>
          </a:p>
        </p:txBody>
      </p:sp>
      <p:sp>
        <p:nvSpPr>
          <p:cNvPr id="6" name="Slide Title"/>
          <p:cNvSpPr txBox="1"/>
          <p:nvPr/>
        </p:nvSpPr>
        <p:spPr>
          <a:xfrm>
            <a:off x="777240" y="1188720"/>
            <a:ext cx="167335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1A1A17"/>
                </a:solidFill>
                <a:latin typeface="Cambria"/>
              </a:rPr>
              <a:t>SpeciesNet + MLP probe, voted per burst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75895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2505456"/>
            <a:ext cx="566928" cy="566928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4028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1A1A17"/>
                </a:solidFill>
                <a:latin typeface="Calibri"/>
              </a:rPr>
              <a:t>MegaDetector v6 crop</a:t>
            </a:r>
          </a:p>
          <a:p>
            <a:pPr algn="l"/>
            <a:r>
              <a:rPr sz="1400" b="0" i="0">
                <a:solidFill>
                  <a:srgbClr val="5F5C55"/>
                </a:solidFill>
                <a:latin typeface="Calibri"/>
              </a:rPr>
              <a:t>the animal's box from each frame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11880"/>
            <a:ext cx="75895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" y="3877056"/>
            <a:ext cx="566928" cy="566928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61188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1A1A17"/>
                </a:solidFill>
                <a:latin typeface="Calibri"/>
              </a:rPr>
              <a:t>SpeciesNet classifier</a:t>
            </a:r>
          </a:p>
          <a:p>
            <a:pPr algn="l"/>
            <a:r>
              <a:rPr sz="1400" b="0" i="0">
                <a:solidFill>
                  <a:srgbClr val="5F5C55"/>
                </a:solidFill>
                <a:latin typeface="Calibri"/>
              </a:rPr>
              <a:t>EfficientNetV2-M · 65M camera-trap images · Google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983480"/>
            <a:ext cx="75895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05840" y="5248656"/>
            <a:ext cx="566928" cy="566928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98348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1A1A17"/>
                </a:solidFill>
                <a:latin typeface="Calibri"/>
              </a:rPr>
              <a:t>471 features</a:t>
            </a:r>
          </a:p>
          <a:p>
            <a:pPr algn="l"/>
            <a:r>
              <a:rPr sz="1400" b="0" i="0">
                <a:solidFill>
                  <a:srgbClr val="5F5C55"/>
                </a:solidFill>
                <a:latin typeface="Calibri"/>
              </a:rPr>
              <a:t>461 SpeciesNet label scores + 10 mapped class scores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6355080"/>
            <a:ext cx="75895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05840" y="6620256"/>
            <a:ext cx="566928" cy="566928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635508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1A1A17"/>
                </a:solidFill>
                <a:latin typeface="Calibri"/>
              </a:rPr>
              <a:t>MLP head</a:t>
            </a:r>
          </a:p>
          <a:p>
            <a:pPr algn="l"/>
            <a:r>
              <a:rPr sz="1400" b="0" i="0">
                <a:solidFill>
                  <a:srgbClr val="5F5C55"/>
                </a:solidFill>
                <a:latin typeface="Calibri"/>
              </a:rPr>
              <a:t>256 hidden units · ReLU · dropout 0.2 · class-balanced loss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7726679"/>
            <a:ext cx="7589520" cy="1097280"/>
          </a:xfrm>
          <a:prstGeom prst="roundRect">
            <a:avLst>
              <a:gd name="adj" fmla="val 6000"/>
            </a:avLst>
          </a:prstGeom>
          <a:solidFill>
            <a:srgbClr val="1F3B2C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05840" y="7991855"/>
            <a:ext cx="566928" cy="566928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600" b="1" i="0">
                <a:solidFill>
                  <a:srgbClr val="1F3B2C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7726679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Burst vote (max rule)</a:t>
            </a:r>
          </a:p>
          <a:p>
            <a:pPr algn="l"/>
            <a:r>
              <a:rPr sz="1400" b="0" i="0">
                <a:solidFill>
                  <a:srgbClr val="CBD4C7"/>
                </a:solidFill>
                <a:latin typeface="Calibri"/>
              </a:rPr>
              <a:t>the most confident frame decides the burst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2240280"/>
            <a:ext cx="2788920" cy="2057400"/>
          </a:xfrm>
          <a:prstGeom prst="roundRect">
            <a:avLst>
              <a:gd name="adj" fmla="val 6000"/>
            </a:avLst>
          </a:prstGeom>
          <a:solidFill>
            <a:srgbClr val="1F3B2C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0.908</a:t>
            </a:r>
          </a:p>
          <a:p>
            <a:pPr algn="ctr"/>
            <a:r>
              <a:rPr sz="1400" b="0" i="0">
                <a:solidFill>
                  <a:srgbClr val="CBD4C7"/>
                </a:solidFill>
                <a:latin typeface="Calibri"/>
              </a:rPr>
              <a:t>honest macro F1
per burst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750040" y="2240280"/>
            <a:ext cx="278892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4400" b="1" i="0">
                <a:solidFill>
                  <a:srgbClr val="B5451B"/>
                </a:solidFill>
                <a:latin typeface="Cambria"/>
              </a:rPr>
              <a:t>90.3%</a:t>
            </a:r>
          </a:p>
          <a:p>
            <a:pPr algn="ctr"/>
            <a:r>
              <a:rPr sz="1400" b="0" i="0">
                <a:solidFill>
                  <a:srgbClr val="5F5C55"/>
                </a:solidFill>
                <a:latin typeface="Calibri"/>
              </a:rPr>
              <a:t>accuracy
per burst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721840" y="2240280"/>
            <a:ext cx="278892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4400" b="1" i="0">
                <a:solidFill>
                  <a:srgbClr val="B5451B"/>
                </a:solidFill>
                <a:latin typeface="Cambria"/>
              </a:rPr>
              <a:t>0.734</a:t>
            </a:r>
          </a:p>
          <a:p>
            <a:pPr algn="ctr"/>
            <a:r>
              <a:rPr sz="1400" b="0" i="0">
                <a:solidFill>
                  <a:srgbClr val="5F5C55"/>
                </a:solidFill>
                <a:latin typeface="Calibri"/>
              </a:rPr>
              <a:t>honest macro F1
per 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4526280"/>
            <a:ext cx="87325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Ins="365760" bIns="182880" rtlCol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300" b="1" i="0" spc="140">
                <a:solidFill>
                  <a:srgbClr val="B5451B"/>
                </a:solidFill>
                <a:latin typeface="Calibri"/>
              </a:rPr>
              <a:t>WHY WE CHOSE IT</a:t>
            </a:r>
          </a:p>
          <a:p>
            <a:pPr marL="274320" indent="-274320" algn="l">
              <a:lnSpc>
                <a:spcPct val="103000"/>
              </a:lnSpc>
              <a:spcAft>
                <a:spcPts val="800"/>
              </a:spcAft>
              <a:buClr>
                <a:srgbClr val="B5451B"/>
              </a:buClr>
              <a:buFont typeface="Arial"/>
              <a:buChar char="•"/>
            </a:pPr>
            <a:r>
              <a:rPr sz="1700" b="0" i="0">
                <a:solidFill>
                  <a:srgbClr val="1A1A17"/>
                </a:solidFill>
                <a:latin typeface="Calibri"/>
              </a:rPr>
              <a:t>Won selection on the 36 held-out cameras (0.954 burst honest F1) — chosen before the test set was read</a:t>
            </a:r>
          </a:p>
          <a:p>
            <a:pPr marL="274320" indent="-274320" algn="l">
              <a:lnSpc>
                <a:spcPct val="103000"/>
              </a:lnSpc>
              <a:spcAft>
                <a:spcPts val="800"/>
              </a:spcAft>
              <a:buClr>
                <a:srgbClr val="B5451B"/>
              </a:buClr>
              <a:buFont typeface="Arial"/>
              <a:buChar char="•"/>
            </a:pPr>
            <a:r>
              <a:rPr sz="1700" b="0" i="0">
                <a:solidFill>
                  <a:srgbClr val="1A1A17"/>
                </a:solidFill>
                <a:latin typeface="Calibri"/>
              </a:rPr>
              <a:t>+0.19 over our best pipeline trained on our data alone (0.908 vs 0.716 per burst)</a:t>
            </a:r>
          </a:p>
          <a:p>
            <a:pPr marL="274320" indent="-274320" algn="l">
              <a:lnSpc>
                <a:spcPct val="103000"/>
              </a:lnSpc>
              <a:spcAft>
                <a:spcPts val="800"/>
              </a:spcAft>
              <a:buClr>
                <a:srgbClr val="B5451B"/>
              </a:buClr>
              <a:buFont typeface="Arial"/>
              <a:buChar char="•"/>
            </a:pPr>
            <a:r>
              <a:rPr sz="1700" b="0" i="0">
                <a:solidFill>
                  <a:srgbClr val="1A1A17"/>
                </a:solidFill>
                <a:latin typeface="Calibri"/>
              </a:rPr>
              <a:t>Biggest gains on the hard classes: red brocket deer 0.70, puma 0.61, gray fox 0.63</a:t>
            </a:r>
          </a:p>
          <a:p>
            <a:pPr marL="274320" indent="-274320" algn="l">
              <a:lnSpc>
                <a:spcPct val="103000"/>
              </a:lnSpc>
              <a:spcAft>
                <a:spcPts val="800"/>
              </a:spcAft>
              <a:buClr>
                <a:srgbClr val="B5451B"/>
              </a:buClr>
              <a:buFont typeface="Arial"/>
              <a:buChar char="•"/>
            </a:pPr>
            <a:r>
              <a:rPr sz="1700" b="0" i="0">
                <a:solidFill>
                  <a:srgbClr val="1A1A17"/>
                </a:solidFill>
                <a:latin typeface="Calibri"/>
              </a:rPr>
              <a:t>Small and deployable: a 484 KB head on top of the public SpeciesNet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7680960"/>
            <a:ext cx="8732520" cy="1143000"/>
          </a:xfrm>
          <a:prstGeom prst="roundRect">
            <a:avLst>
              <a:gd name="adj" fmla="val 6000"/>
            </a:avLst>
          </a:prstGeom>
          <a:solidFill>
            <a:srgbClr val="F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37160" rIns="320040" bIns="137160" rtlCol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 spc="140">
                <a:solidFill>
                  <a:srgbClr val="B5451B"/>
                </a:solidFill>
                <a:latin typeface="Calibri"/>
              </a:rPr>
              <a:t>CAVEAT   </a:t>
            </a:r>
            <a:r>
              <a:rPr sz="1500" b="0" i="0">
                <a:solidFill>
                  <a:srgbClr val="1A1A17"/>
                </a:solidFill>
                <a:latin typeface="Calibri"/>
              </a:rPr>
              <a:t>SpeciesNet was trained on public camera-trap repositories and iWildCam is public, so it may have seen these images. Our clean, learned-from-our-data result is the BioCLIP pipeline: 0.598 per image / 0.716 per burst.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63" b="-84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Section Header"/>
          <p:cNvSpPr txBox="1"/>
          <p:nvPr/>
        </p:nvSpPr>
        <p:spPr>
          <a:xfrm>
            <a:off x="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777240" indent="-388620" algn="l">
              <a:buFont typeface="Arial"/>
              <a:buChar char="•"/>
            </a:pPr>
            <a:r>
              <a:rPr sz="3600" b="1" i="0">
                <a:solidFill>
                  <a:srgbClr val="B5451B"/>
                </a:solidFill>
                <a:latin typeface="Cambria"/>
              </a:rPr>
              <a:t>Results &amp; Insights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777240" y="1188720"/>
            <a:ext cx="167335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1A1A17"/>
                </a:solidFill>
                <a:latin typeface="Cambria"/>
              </a:rPr>
              <a:t>Where the final model is strong — and where it still struggles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11384280" cy="7315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60120" y="2286000"/>
          <a:ext cx="11018520" cy="7040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2481560" y="2148840"/>
            <a:ext cx="5029200" cy="210312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12710160" y="2404872"/>
            <a:ext cx="640080" cy="640080"/>
          </a:xfrm>
          <a:prstGeom prst="ellipse">
            <a:avLst/>
          </a:prstGeom>
          <a:solidFill>
            <a:srgbClr val="1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" name="Picture 8" descr="LuTrendingU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4178" y="2548889"/>
            <a:ext cx="352044" cy="3520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533120" y="2404872"/>
            <a:ext cx="379476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1" i="0">
                <a:solidFill>
                  <a:srgbClr val="1A1A17"/>
                </a:solidFill>
                <a:latin typeface="Calibri"/>
              </a:rPr>
              <a:t>Strong on large, distinctive animals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0" y="3136392"/>
            <a:ext cx="461772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0" i="0">
                <a:solidFill>
                  <a:srgbClr val="5F5C55"/>
                </a:solidFill>
                <a:latin typeface="Calibri"/>
              </a:rPr>
              <a:t>Great curassow 0.93, black-fronted duiker 0.90, ocellated turkey 0.84, white-lipped peccary 0.83.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481560" y="4434840"/>
            <a:ext cx="5029200" cy="233172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12710160" y="4690872"/>
            <a:ext cx="640080" cy="640080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Picture 13" descr="LuTriangleAler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54178" y="4834890"/>
            <a:ext cx="352044" cy="3520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533120" y="4690872"/>
            <a:ext cx="379476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1" i="0">
                <a:solidFill>
                  <a:srgbClr val="1A1A17"/>
                </a:solidFill>
                <a:latin typeface="Calibri"/>
              </a:rPr>
              <a:t>Weakest on the rarest mammals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10160" y="5422392"/>
            <a:ext cx="461772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0" i="0">
                <a:solidFill>
                  <a:srgbClr val="5F5C55"/>
                </a:solidFill>
                <a:latin typeface="Calibri"/>
              </a:rPr>
              <a:t>Agouti 0.55, puma 0.61, gray fox 0.63 — the smallest training classes. Earlier models mostly confused gray fox with ocelot, puma and red brocket deer.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481560" y="6949440"/>
            <a:ext cx="5029200" cy="251460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12710160" y="7205472"/>
            <a:ext cx="640080" cy="640080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Picture 18" descr="LuFilte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54178" y="7349490"/>
            <a:ext cx="352044" cy="3520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0" y="7205472"/>
            <a:ext cx="379476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1" i="0">
                <a:solidFill>
                  <a:srgbClr val="1A1A17"/>
                </a:solidFill>
                <a:latin typeface="Calibri"/>
              </a:rPr>
              <a:t>Empty became a dumping ground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10160" y="7936992"/>
            <a:ext cx="46177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0" i="0">
                <a:solidFill>
                  <a:srgbClr val="5F5C55"/>
                </a:solidFill>
                <a:latin typeface="Calibri"/>
              </a:rPr>
              <a:t>Recall 0.98 but precision 0.41: 28% of animal crops get SpeciesNet's top label 'blank' — likely the ~18% of frames where MegaDetector found no confident box and the whole frame was used.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63" b="-84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Section Header"/>
          <p:cNvSpPr txBox="1"/>
          <p:nvPr/>
        </p:nvSpPr>
        <p:spPr>
          <a:xfrm>
            <a:off x="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777240" indent="-388620" algn="l">
              <a:buFont typeface="Arial"/>
              <a:buChar char="•"/>
            </a:pPr>
            <a:r>
              <a:rPr sz="3600" b="1" i="0">
                <a:solidFill>
                  <a:srgbClr val="B5451B"/>
                </a:solidFill>
                <a:latin typeface="Cambria"/>
              </a:rPr>
              <a:t>Results &amp; Insights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777240" y="1188720"/>
            <a:ext cx="167335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1A1A17"/>
                </a:solidFill>
                <a:latin typeface="Cambria"/>
              </a:rPr>
              <a:t>What we learned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539496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1143000" y="2468880"/>
            <a:ext cx="777240" cy="777240"/>
          </a:xfrm>
          <a:prstGeom prst="ellipse">
            <a:avLst/>
          </a:prstGeom>
          <a:solidFill>
            <a:srgbClr val="1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LuBrainCircui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879" y="2643759"/>
            <a:ext cx="427482" cy="4274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03120" y="2468880"/>
            <a:ext cx="374904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A1A17"/>
                </a:solidFill>
                <a:latin typeface="Calibri"/>
              </a:rPr>
              <a:t>Pretrained features are the biggest lever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383280"/>
            <a:ext cx="466344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000" b="1" i="0">
                <a:solidFill>
                  <a:srgbClr val="B5451B"/>
                </a:solidFill>
                <a:latin typeface="Cambria"/>
              </a:rPr>
              <a:t>0.320 </a:t>
            </a:r>
            <a:r>
              <a:rPr sz="3000" b="1" i="0">
                <a:solidFill>
                  <a:srgbClr val="B5451B"/>
                </a:solidFill>
                <a:latin typeface="Calibri"/>
              </a:rPr>
              <a:t>→</a:t>
            </a:r>
            <a:r>
              <a:rPr sz="3000" b="1" i="0">
                <a:solidFill>
                  <a:srgbClr val="B5451B"/>
                </a:solidFill>
                <a:latin typeface="Cambria"/>
              </a:rPr>
              <a:t> 0.734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114800"/>
            <a:ext cx="466344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550" b="0" i="0">
                <a:solidFill>
                  <a:srgbClr val="5F5C55"/>
                </a:solidFill>
                <a:latin typeface="Calibri"/>
              </a:rPr>
              <a:t>Scratch CNN → ImageNet ResNet (0.421) → camera-trap SpeciesNet, honest F1 on unseen cameras.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148840"/>
            <a:ext cx="539496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12280" y="2468880"/>
            <a:ext cx="777240" cy="777240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" name="Picture 12" descr="LuGaug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7159" y="2643759"/>
            <a:ext cx="427482" cy="4274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0" y="2468880"/>
            <a:ext cx="374904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A1A17"/>
                </a:solidFill>
                <a:latin typeface="Calibri"/>
              </a:rPr>
              <a:t>Tuning can't fix a shortcut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383280"/>
            <a:ext cx="466344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000" b="1" i="0">
                <a:solidFill>
                  <a:srgbClr val="B5451B"/>
                </a:solidFill>
                <a:latin typeface="Cambria"/>
              </a:rPr>
              <a:t>+0.025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4114800"/>
            <a:ext cx="466344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550" b="0" i="0">
                <a:solidFill>
                  <a:srgbClr val="5F5C55"/>
                </a:solidFill>
                <a:latin typeface="Calibri"/>
              </a:rPr>
              <a:t>Layer-wise learning rates and mixup cut the train/val gap (0.215 → 0.144) but barely moved unseen-camera F1.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115800" y="2148840"/>
            <a:ext cx="539496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12481560" y="2468880"/>
            <a:ext cx="777240" cy="777240"/>
          </a:xfrm>
          <a:prstGeom prst="ellipse">
            <a:avLst/>
          </a:prstGeom>
          <a:solidFill>
            <a:srgbClr val="1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Picture 18" descr="LuCro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56439" y="2643759"/>
            <a:ext cx="427482" cy="42748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441680" y="2468880"/>
            <a:ext cx="374904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A1A17"/>
                </a:solidFill>
                <a:latin typeface="Calibri"/>
              </a:rPr>
              <a:t>Look at the animal, not the scene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81560" y="3383280"/>
            <a:ext cx="466344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000" b="1" i="0">
                <a:solidFill>
                  <a:srgbClr val="B5451B"/>
                </a:solidFill>
                <a:latin typeface="Cambria"/>
              </a:rPr>
              <a:t>+0.108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81560" y="4114800"/>
            <a:ext cx="466344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550" b="0" i="0">
                <a:solidFill>
                  <a:srgbClr val="5F5C55"/>
                </a:solidFill>
                <a:latin typeface="Calibri"/>
              </a:rPr>
              <a:t>MegaDetector crops lifted BioCLIP from 0.490 to 0.598. Our background-subtraction boxes were almost the whole frame (median side 0.93).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806440"/>
            <a:ext cx="539496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43000" y="6126479"/>
            <a:ext cx="777240" cy="777240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Picture 24" descr="LuVot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7879" y="6301358"/>
            <a:ext cx="427482" cy="42748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03120" y="6126479"/>
            <a:ext cx="374904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A1A17"/>
                </a:solidFill>
                <a:latin typeface="Calibri"/>
              </a:rPr>
              <a:t>One trigger, one vote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7040879"/>
            <a:ext cx="466344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000" b="1" i="0">
                <a:solidFill>
                  <a:srgbClr val="B5451B"/>
                </a:solidFill>
                <a:latin typeface="Cambria"/>
              </a:rPr>
              <a:t>+0.174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772400"/>
            <a:ext cx="466344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550" b="0" i="0">
                <a:solidFill>
                  <a:srgbClr val="5F5C55"/>
                </a:solidFill>
                <a:latin typeface="Calibri"/>
              </a:rPr>
              <a:t>Deciding once per burst: 0.734 → 0.908 for SpeciesNet, and +0.118 (0.598 → 0.716) for BioCLIP.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5806440"/>
            <a:ext cx="539496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Oval 29"/>
          <p:cNvSpPr/>
          <p:nvPr/>
        </p:nvSpPr>
        <p:spPr>
          <a:xfrm>
            <a:off x="6812280" y="6126479"/>
            <a:ext cx="777240" cy="777240"/>
          </a:xfrm>
          <a:prstGeom prst="ellipse">
            <a:avLst/>
          </a:prstGeom>
          <a:solidFill>
            <a:srgbClr val="1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1" name="Picture 30" descr="LuScal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7159" y="6301358"/>
            <a:ext cx="427482" cy="42748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772400" y="6126479"/>
            <a:ext cx="374904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A1A17"/>
                </a:solidFill>
                <a:latin typeface="Calibri"/>
              </a:rPr>
              <a:t>The classifier matters less than its inputs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7040879"/>
            <a:ext cx="466344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000" b="1" i="0">
                <a:solidFill>
                  <a:srgbClr val="B5451B"/>
                </a:solidFill>
                <a:latin typeface="Cambria"/>
              </a:rPr>
              <a:t>0.580 ≈ 0.582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7772400"/>
            <a:ext cx="466344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550" b="0" i="0">
                <a:solidFill>
                  <a:srgbClr val="5F5C55"/>
                </a:solidFill>
                <a:latin typeface="Calibri"/>
              </a:rPr>
              <a:t>Logistic regression vs XGBoost on the same crops; a soft vote of both reached 0.598.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115800" y="5806440"/>
            <a:ext cx="539496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Oval 35"/>
          <p:cNvSpPr/>
          <p:nvPr/>
        </p:nvSpPr>
        <p:spPr>
          <a:xfrm>
            <a:off x="12481560" y="6126479"/>
            <a:ext cx="777240" cy="777240"/>
          </a:xfrm>
          <a:prstGeom prst="ellipse">
            <a:avLst/>
          </a:prstGeom>
          <a:solidFill>
            <a:srgbClr val="B5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7" name="Picture 36" descr="LuSparkles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56439" y="6301358"/>
            <a:ext cx="427482" cy="42748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3441680" y="6126479"/>
            <a:ext cx="374904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A1A17"/>
                </a:solidFill>
                <a:latin typeface="Calibri"/>
              </a:rPr>
              <a:t>Domain models work out of the box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481560" y="7040879"/>
            <a:ext cx="466344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000" b="1" i="0">
                <a:solidFill>
                  <a:srgbClr val="B5451B"/>
                </a:solidFill>
                <a:latin typeface="Cambria"/>
              </a:rPr>
              <a:t>0.825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81560" y="7772400"/>
            <a:ext cx="466344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550" b="0" i="0">
                <a:solidFill>
                  <a:srgbClr val="5F5C55"/>
                </a:solidFill>
                <a:latin typeface="Calibri"/>
              </a:rPr>
              <a:t>SpeciesNet zero-shot per burst, with zero training images — above everything we trained on BioCLIP.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1" r="-42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407355" y="1028700"/>
            <a:ext cx="18840207" cy="5727556"/>
            <a:chOff x="0" y="0"/>
            <a:chExt cx="6617215" cy="2011680"/>
          </a:xfrm>
        </p:grpSpPr>
        <p:sp>
          <p:nvSpPr>
            <p:cNvPr id="4" name="Freeform 4"/>
            <p:cNvSpPr/>
            <p:nvPr/>
          </p:nvSpPr>
          <p:spPr>
            <a:xfrm>
              <a:off x="-552" y="-1270"/>
              <a:ext cx="6614450" cy="2007870"/>
            </a:xfrm>
            <a:custGeom>
              <a:avLst/>
              <a:gdLst/>
              <a:ahLst/>
              <a:cxnLst/>
              <a:rect l="l" t="t" r="r" b="b"/>
              <a:pathLst>
                <a:path w="6614450" h="2007870">
                  <a:moveTo>
                    <a:pt x="6614228" y="1776730"/>
                  </a:moveTo>
                  <a:cubicBezTo>
                    <a:pt x="6610690" y="1275080"/>
                    <a:pt x="6568226" y="596900"/>
                    <a:pt x="6568226" y="96520"/>
                  </a:cubicBezTo>
                  <a:cubicBezTo>
                    <a:pt x="6568226" y="88900"/>
                    <a:pt x="6571765" y="81280"/>
                    <a:pt x="6571765" y="74930"/>
                  </a:cubicBezTo>
                  <a:cubicBezTo>
                    <a:pt x="6568226" y="73660"/>
                    <a:pt x="6564688" y="73660"/>
                    <a:pt x="6561149" y="72390"/>
                  </a:cubicBezTo>
                  <a:cubicBezTo>
                    <a:pt x="6561149" y="72390"/>
                    <a:pt x="6557610" y="73660"/>
                    <a:pt x="6557610" y="74930"/>
                  </a:cubicBezTo>
                  <a:cubicBezTo>
                    <a:pt x="6550533" y="81280"/>
                    <a:pt x="6536379" y="81280"/>
                    <a:pt x="6522224" y="81280"/>
                  </a:cubicBezTo>
                  <a:cubicBezTo>
                    <a:pt x="6504531" y="80010"/>
                    <a:pt x="6486838" y="73660"/>
                    <a:pt x="6465606" y="76200"/>
                  </a:cubicBezTo>
                  <a:cubicBezTo>
                    <a:pt x="6458529" y="77470"/>
                    <a:pt x="6444375" y="74930"/>
                    <a:pt x="6440836" y="72390"/>
                  </a:cubicBezTo>
                  <a:cubicBezTo>
                    <a:pt x="6430220" y="67310"/>
                    <a:pt x="6416065" y="67310"/>
                    <a:pt x="6401911" y="69850"/>
                  </a:cubicBezTo>
                  <a:cubicBezTo>
                    <a:pt x="6394834" y="71120"/>
                    <a:pt x="6387757" y="69850"/>
                    <a:pt x="6380679" y="69850"/>
                  </a:cubicBezTo>
                  <a:cubicBezTo>
                    <a:pt x="6370064" y="69850"/>
                    <a:pt x="6355909" y="68580"/>
                    <a:pt x="6345293" y="67310"/>
                  </a:cubicBezTo>
                  <a:cubicBezTo>
                    <a:pt x="6341755" y="67310"/>
                    <a:pt x="6334677" y="66040"/>
                    <a:pt x="6331139" y="66040"/>
                  </a:cubicBezTo>
                  <a:cubicBezTo>
                    <a:pt x="6320523" y="64770"/>
                    <a:pt x="6309907" y="60960"/>
                    <a:pt x="6299292" y="66040"/>
                  </a:cubicBezTo>
                  <a:cubicBezTo>
                    <a:pt x="6299292" y="66040"/>
                    <a:pt x="6292214" y="66040"/>
                    <a:pt x="6288676" y="64770"/>
                  </a:cubicBezTo>
                  <a:cubicBezTo>
                    <a:pt x="6285137" y="62230"/>
                    <a:pt x="6281598" y="58420"/>
                    <a:pt x="6278060" y="55880"/>
                  </a:cubicBezTo>
                  <a:cubicBezTo>
                    <a:pt x="6270982" y="52070"/>
                    <a:pt x="6270982" y="45720"/>
                    <a:pt x="6260366" y="43180"/>
                  </a:cubicBezTo>
                  <a:cubicBezTo>
                    <a:pt x="6253289" y="41910"/>
                    <a:pt x="6249750" y="40640"/>
                    <a:pt x="6246212" y="38100"/>
                  </a:cubicBezTo>
                  <a:cubicBezTo>
                    <a:pt x="6246212" y="36830"/>
                    <a:pt x="6239134" y="35560"/>
                    <a:pt x="6239134" y="34290"/>
                  </a:cubicBezTo>
                  <a:lnTo>
                    <a:pt x="6228519" y="30480"/>
                  </a:lnTo>
                  <a:cubicBezTo>
                    <a:pt x="6224980" y="27940"/>
                    <a:pt x="6221441" y="24130"/>
                    <a:pt x="6214364" y="22860"/>
                  </a:cubicBezTo>
                  <a:cubicBezTo>
                    <a:pt x="6200210" y="19050"/>
                    <a:pt x="6196671" y="13970"/>
                    <a:pt x="6203748" y="7620"/>
                  </a:cubicBezTo>
                  <a:cubicBezTo>
                    <a:pt x="6193133" y="6350"/>
                    <a:pt x="6186055" y="3810"/>
                    <a:pt x="6175440" y="3810"/>
                  </a:cubicBezTo>
                  <a:cubicBezTo>
                    <a:pt x="6132976" y="5080"/>
                    <a:pt x="6086974" y="7620"/>
                    <a:pt x="6044511" y="8890"/>
                  </a:cubicBezTo>
                  <a:cubicBezTo>
                    <a:pt x="6037434" y="8890"/>
                    <a:pt x="6026817" y="10160"/>
                    <a:pt x="6023279" y="11430"/>
                  </a:cubicBezTo>
                  <a:cubicBezTo>
                    <a:pt x="5994970" y="17780"/>
                    <a:pt x="5966661" y="12700"/>
                    <a:pt x="5938352" y="11430"/>
                  </a:cubicBezTo>
                  <a:cubicBezTo>
                    <a:pt x="5917121" y="11430"/>
                    <a:pt x="5895889" y="7620"/>
                    <a:pt x="5874657" y="6350"/>
                  </a:cubicBezTo>
                  <a:cubicBezTo>
                    <a:pt x="5849886" y="5080"/>
                    <a:pt x="5828655" y="6350"/>
                    <a:pt x="5803885" y="5080"/>
                  </a:cubicBezTo>
                  <a:cubicBezTo>
                    <a:pt x="5800346" y="5080"/>
                    <a:pt x="5796807" y="3810"/>
                    <a:pt x="5793269" y="2540"/>
                  </a:cubicBezTo>
                  <a:cubicBezTo>
                    <a:pt x="5786192" y="-1270"/>
                    <a:pt x="5772037" y="0"/>
                    <a:pt x="5764960" y="1270"/>
                  </a:cubicBezTo>
                  <a:cubicBezTo>
                    <a:pt x="5754344" y="3810"/>
                    <a:pt x="5750806" y="7620"/>
                    <a:pt x="5743728" y="11430"/>
                  </a:cubicBezTo>
                  <a:cubicBezTo>
                    <a:pt x="5726035" y="12700"/>
                    <a:pt x="5701264" y="13970"/>
                    <a:pt x="5683572" y="17780"/>
                  </a:cubicBezTo>
                  <a:cubicBezTo>
                    <a:pt x="5669417" y="20320"/>
                    <a:pt x="5662340" y="21590"/>
                    <a:pt x="5651724" y="19050"/>
                  </a:cubicBezTo>
                  <a:lnTo>
                    <a:pt x="5648186" y="20320"/>
                  </a:lnTo>
                  <a:cubicBezTo>
                    <a:pt x="5655263" y="22860"/>
                    <a:pt x="5658801" y="26670"/>
                    <a:pt x="5665879" y="29210"/>
                  </a:cubicBezTo>
                  <a:cubicBezTo>
                    <a:pt x="5655263" y="30480"/>
                    <a:pt x="5641108" y="33020"/>
                    <a:pt x="5634031" y="31750"/>
                  </a:cubicBezTo>
                  <a:cubicBezTo>
                    <a:pt x="5616338" y="30480"/>
                    <a:pt x="5609261" y="33020"/>
                    <a:pt x="5595106" y="35560"/>
                  </a:cubicBezTo>
                  <a:cubicBezTo>
                    <a:pt x="5580952" y="39370"/>
                    <a:pt x="5563259" y="41910"/>
                    <a:pt x="5549104" y="44450"/>
                  </a:cubicBezTo>
                  <a:cubicBezTo>
                    <a:pt x="5545566" y="44450"/>
                    <a:pt x="5542027" y="44450"/>
                    <a:pt x="5538489" y="43180"/>
                  </a:cubicBezTo>
                  <a:cubicBezTo>
                    <a:pt x="5534950" y="43180"/>
                    <a:pt x="5531411" y="41910"/>
                    <a:pt x="5531411" y="41910"/>
                  </a:cubicBezTo>
                  <a:cubicBezTo>
                    <a:pt x="5513718" y="44450"/>
                    <a:pt x="5496025" y="46990"/>
                    <a:pt x="5478332" y="44450"/>
                  </a:cubicBezTo>
                  <a:cubicBezTo>
                    <a:pt x="5474793" y="44450"/>
                    <a:pt x="5474793" y="45720"/>
                    <a:pt x="5471255" y="45720"/>
                  </a:cubicBezTo>
                  <a:cubicBezTo>
                    <a:pt x="5450023" y="48260"/>
                    <a:pt x="5435868" y="57150"/>
                    <a:pt x="5407559" y="57150"/>
                  </a:cubicBezTo>
                  <a:cubicBezTo>
                    <a:pt x="5386328" y="57150"/>
                    <a:pt x="5365096" y="63500"/>
                    <a:pt x="5343865" y="63500"/>
                  </a:cubicBezTo>
                  <a:cubicBezTo>
                    <a:pt x="5319094" y="64770"/>
                    <a:pt x="5297862" y="67310"/>
                    <a:pt x="5276631" y="71120"/>
                  </a:cubicBezTo>
                  <a:cubicBezTo>
                    <a:pt x="5269553" y="72390"/>
                    <a:pt x="5262476" y="72390"/>
                    <a:pt x="5258938" y="72390"/>
                  </a:cubicBezTo>
                  <a:cubicBezTo>
                    <a:pt x="5241245" y="69850"/>
                    <a:pt x="5230628" y="73660"/>
                    <a:pt x="5223551" y="77470"/>
                  </a:cubicBezTo>
                  <a:cubicBezTo>
                    <a:pt x="5205858" y="86360"/>
                    <a:pt x="5177549" y="88900"/>
                    <a:pt x="5152779" y="91440"/>
                  </a:cubicBezTo>
                  <a:cubicBezTo>
                    <a:pt x="5120932" y="93980"/>
                    <a:pt x="5089084" y="95250"/>
                    <a:pt x="5057236" y="96520"/>
                  </a:cubicBezTo>
                  <a:cubicBezTo>
                    <a:pt x="5053697" y="96520"/>
                    <a:pt x="5050159" y="100330"/>
                    <a:pt x="5043082" y="101600"/>
                  </a:cubicBezTo>
                  <a:cubicBezTo>
                    <a:pt x="5039543" y="101600"/>
                    <a:pt x="5036004" y="100330"/>
                    <a:pt x="5036004" y="100330"/>
                  </a:cubicBezTo>
                  <a:cubicBezTo>
                    <a:pt x="5018311" y="107950"/>
                    <a:pt x="5007696" y="119380"/>
                    <a:pt x="4972310" y="118110"/>
                  </a:cubicBezTo>
                  <a:lnTo>
                    <a:pt x="4968771" y="118110"/>
                  </a:lnTo>
                  <a:cubicBezTo>
                    <a:pt x="4940462" y="124460"/>
                    <a:pt x="4912153" y="121920"/>
                    <a:pt x="4887383" y="119380"/>
                  </a:cubicBezTo>
                  <a:cubicBezTo>
                    <a:pt x="4880305" y="119380"/>
                    <a:pt x="4869690" y="116840"/>
                    <a:pt x="4866151" y="114300"/>
                  </a:cubicBezTo>
                  <a:cubicBezTo>
                    <a:pt x="4855535" y="106680"/>
                    <a:pt x="4827226" y="104140"/>
                    <a:pt x="4805994" y="106680"/>
                  </a:cubicBezTo>
                  <a:cubicBezTo>
                    <a:pt x="4788301" y="109220"/>
                    <a:pt x="4770608" y="110490"/>
                    <a:pt x="4752915" y="113030"/>
                  </a:cubicBezTo>
                  <a:cubicBezTo>
                    <a:pt x="4724607" y="115570"/>
                    <a:pt x="4699836" y="116840"/>
                    <a:pt x="4671527" y="111760"/>
                  </a:cubicBezTo>
                  <a:cubicBezTo>
                    <a:pt x="4643218" y="106680"/>
                    <a:pt x="4621986" y="110490"/>
                    <a:pt x="4607832" y="121920"/>
                  </a:cubicBezTo>
                  <a:cubicBezTo>
                    <a:pt x="4597216" y="129540"/>
                    <a:pt x="4568907" y="130810"/>
                    <a:pt x="4551214" y="124460"/>
                  </a:cubicBezTo>
                  <a:cubicBezTo>
                    <a:pt x="4540598" y="120650"/>
                    <a:pt x="4533521" y="121920"/>
                    <a:pt x="4522905" y="124460"/>
                  </a:cubicBezTo>
                  <a:lnTo>
                    <a:pt x="4501673" y="132080"/>
                  </a:lnTo>
                  <a:cubicBezTo>
                    <a:pt x="4498135" y="133350"/>
                    <a:pt x="4491058" y="133350"/>
                    <a:pt x="4487519" y="133350"/>
                  </a:cubicBezTo>
                  <a:lnTo>
                    <a:pt x="4466287" y="133350"/>
                  </a:lnTo>
                  <a:cubicBezTo>
                    <a:pt x="4452133" y="133350"/>
                    <a:pt x="4437978" y="132080"/>
                    <a:pt x="4423824" y="130810"/>
                  </a:cubicBezTo>
                  <a:cubicBezTo>
                    <a:pt x="4406131" y="129540"/>
                    <a:pt x="4391976" y="125730"/>
                    <a:pt x="4374283" y="124460"/>
                  </a:cubicBezTo>
                  <a:cubicBezTo>
                    <a:pt x="4345974" y="123190"/>
                    <a:pt x="4338897" y="114300"/>
                    <a:pt x="4328281" y="107950"/>
                  </a:cubicBezTo>
                  <a:cubicBezTo>
                    <a:pt x="4321204" y="104140"/>
                    <a:pt x="4307050" y="99060"/>
                    <a:pt x="4292895" y="100330"/>
                  </a:cubicBezTo>
                  <a:cubicBezTo>
                    <a:pt x="4278740" y="102870"/>
                    <a:pt x="4264586" y="100330"/>
                    <a:pt x="4253970" y="99060"/>
                  </a:cubicBezTo>
                  <a:cubicBezTo>
                    <a:pt x="4250431" y="99060"/>
                    <a:pt x="4243354" y="97790"/>
                    <a:pt x="4239816" y="97790"/>
                  </a:cubicBezTo>
                  <a:cubicBezTo>
                    <a:pt x="4215045" y="95250"/>
                    <a:pt x="4197352" y="100330"/>
                    <a:pt x="4179659" y="106680"/>
                  </a:cubicBezTo>
                  <a:lnTo>
                    <a:pt x="4165505" y="111760"/>
                  </a:lnTo>
                  <a:cubicBezTo>
                    <a:pt x="4161966" y="113030"/>
                    <a:pt x="4161966" y="115570"/>
                    <a:pt x="4158427" y="116840"/>
                  </a:cubicBezTo>
                  <a:cubicBezTo>
                    <a:pt x="4137196" y="123190"/>
                    <a:pt x="4115964" y="120650"/>
                    <a:pt x="4091194" y="116840"/>
                  </a:cubicBezTo>
                  <a:cubicBezTo>
                    <a:pt x="4069962" y="113030"/>
                    <a:pt x="4045192" y="116840"/>
                    <a:pt x="4038114" y="124460"/>
                  </a:cubicBezTo>
                  <a:cubicBezTo>
                    <a:pt x="4034576" y="129540"/>
                    <a:pt x="4031037" y="133350"/>
                    <a:pt x="4013344" y="135890"/>
                  </a:cubicBezTo>
                  <a:cubicBezTo>
                    <a:pt x="3995651" y="139700"/>
                    <a:pt x="3974420" y="142240"/>
                    <a:pt x="3970881" y="151130"/>
                  </a:cubicBezTo>
                  <a:cubicBezTo>
                    <a:pt x="3970881" y="152400"/>
                    <a:pt x="3967342" y="153670"/>
                    <a:pt x="3963803" y="153670"/>
                  </a:cubicBezTo>
                  <a:cubicBezTo>
                    <a:pt x="3953188" y="154940"/>
                    <a:pt x="3946110" y="156210"/>
                    <a:pt x="3935495" y="157480"/>
                  </a:cubicBezTo>
                  <a:lnTo>
                    <a:pt x="3903647" y="157480"/>
                  </a:lnTo>
                  <a:cubicBezTo>
                    <a:pt x="3882415" y="156210"/>
                    <a:pt x="3861183" y="153670"/>
                    <a:pt x="3839952" y="152400"/>
                  </a:cubicBezTo>
                  <a:cubicBezTo>
                    <a:pt x="3815182" y="151130"/>
                    <a:pt x="3793950" y="156210"/>
                    <a:pt x="3769179" y="157480"/>
                  </a:cubicBezTo>
                  <a:lnTo>
                    <a:pt x="3765641" y="158750"/>
                  </a:lnTo>
                  <a:cubicBezTo>
                    <a:pt x="3758564" y="162560"/>
                    <a:pt x="3747948" y="161290"/>
                    <a:pt x="3740871" y="158750"/>
                  </a:cubicBezTo>
                  <a:cubicBezTo>
                    <a:pt x="3726716" y="153670"/>
                    <a:pt x="3701946" y="152400"/>
                    <a:pt x="3684253" y="154940"/>
                  </a:cubicBezTo>
                  <a:cubicBezTo>
                    <a:pt x="3663021" y="158750"/>
                    <a:pt x="3641789" y="161290"/>
                    <a:pt x="3620558" y="163830"/>
                  </a:cubicBezTo>
                  <a:cubicBezTo>
                    <a:pt x="3613480" y="163830"/>
                    <a:pt x="3606403" y="162560"/>
                    <a:pt x="3602865" y="162560"/>
                  </a:cubicBezTo>
                  <a:cubicBezTo>
                    <a:pt x="3595787" y="162560"/>
                    <a:pt x="3585172" y="161290"/>
                    <a:pt x="3581633" y="162560"/>
                  </a:cubicBezTo>
                  <a:cubicBezTo>
                    <a:pt x="3553324" y="170180"/>
                    <a:pt x="3525015" y="167640"/>
                    <a:pt x="3500245" y="162560"/>
                  </a:cubicBezTo>
                  <a:cubicBezTo>
                    <a:pt x="3486090" y="160020"/>
                    <a:pt x="3464858" y="157480"/>
                    <a:pt x="3457781" y="149860"/>
                  </a:cubicBezTo>
                  <a:cubicBezTo>
                    <a:pt x="3454242" y="144780"/>
                    <a:pt x="3440088" y="139700"/>
                    <a:pt x="3429472" y="135890"/>
                  </a:cubicBezTo>
                  <a:cubicBezTo>
                    <a:pt x="3411779" y="129540"/>
                    <a:pt x="3394086" y="120650"/>
                    <a:pt x="3362239" y="120650"/>
                  </a:cubicBezTo>
                  <a:cubicBezTo>
                    <a:pt x="3355161" y="120650"/>
                    <a:pt x="3348084" y="115570"/>
                    <a:pt x="3344546" y="116840"/>
                  </a:cubicBezTo>
                  <a:cubicBezTo>
                    <a:pt x="3330391" y="118110"/>
                    <a:pt x="3330391" y="115570"/>
                    <a:pt x="3323314" y="113030"/>
                  </a:cubicBezTo>
                  <a:cubicBezTo>
                    <a:pt x="3316236" y="110490"/>
                    <a:pt x="3305621" y="107950"/>
                    <a:pt x="3298544" y="104140"/>
                  </a:cubicBezTo>
                  <a:cubicBezTo>
                    <a:pt x="3287928" y="99060"/>
                    <a:pt x="3277312" y="92710"/>
                    <a:pt x="3266696" y="87630"/>
                  </a:cubicBezTo>
                  <a:cubicBezTo>
                    <a:pt x="3256080" y="82550"/>
                    <a:pt x="3249003" y="76200"/>
                    <a:pt x="3238387" y="71120"/>
                  </a:cubicBezTo>
                  <a:cubicBezTo>
                    <a:pt x="3234848" y="69850"/>
                    <a:pt x="3224232" y="68580"/>
                    <a:pt x="3220694" y="69850"/>
                  </a:cubicBezTo>
                  <a:lnTo>
                    <a:pt x="3178231" y="77470"/>
                  </a:lnTo>
                  <a:cubicBezTo>
                    <a:pt x="3171153" y="78740"/>
                    <a:pt x="3167614" y="81280"/>
                    <a:pt x="3164076" y="83820"/>
                  </a:cubicBezTo>
                  <a:lnTo>
                    <a:pt x="3160537" y="82550"/>
                  </a:lnTo>
                  <a:cubicBezTo>
                    <a:pt x="3164076" y="78740"/>
                    <a:pt x="3167614" y="74930"/>
                    <a:pt x="3171153" y="73660"/>
                  </a:cubicBezTo>
                  <a:lnTo>
                    <a:pt x="3128690" y="69850"/>
                  </a:lnTo>
                  <a:cubicBezTo>
                    <a:pt x="3118074" y="68580"/>
                    <a:pt x="3100381" y="68580"/>
                    <a:pt x="3093304" y="68580"/>
                  </a:cubicBezTo>
                  <a:lnTo>
                    <a:pt x="3036686" y="68580"/>
                  </a:lnTo>
                  <a:cubicBezTo>
                    <a:pt x="3015454" y="68580"/>
                    <a:pt x="2997761" y="67310"/>
                    <a:pt x="2976529" y="68580"/>
                  </a:cubicBezTo>
                  <a:cubicBezTo>
                    <a:pt x="2962375" y="69850"/>
                    <a:pt x="2951759" y="67310"/>
                    <a:pt x="2941143" y="64770"/>
                  </a:cubicBezTo>
                  <a:cubicBezTo>
                    <a:pt x="2912834" y="57150"/>
                    <a:pt x="2884525" y="48260"/>
                    <a:pt x="2845600" y="52070"/>
                  </a:cubicBezTo>
                  <a:cubicBezTo>
                    <a:pt x="2842062" y="52070"/>
                    <a:pt x="2834984" y="50800"/>
                    <a:pt x="2831446" y="49530"/>
                  </a:cubicBezTo>
                  <a:cubicBezTo>
                    <a:pt x="2820830" y="48260"/>
                    <a:pt x="2813753" y="45720"/>
                    <a:pt x="2799598" y="43180"/>
                  </a:cubicBezTo>
                  <a:cubicBezTo>
                    <a:pt x="2799598" y="46990"/>
                    <a:pt x="2799598" y="48260"/>
                    <a:pt x="2803137" y="50800"/>
                  </a:cubicBezTo>
                  <a:cubicBezTo>
                    <a:pt x="2796060" y="53340"/>
                    <a:pt x="2792521" y="52070"/>
                    <a:pt x="2788983" y="50800"/>
                  </a:cubicBezTo>
                  <a:cubicBezTo>
                    <a:pt x="2785444" y="52070"/>
                    <a:pt x="2781905" y="54610"/>
                    <a:pt x="2778367" y="54610"/>
                  </a:cubicBezTo>
                  <a:cubicBezTo>
                    <a:pt x="2760673" y="57150"/>
                    <a:pt x="2742980" y="58420"/>
                    <a:pt x="2725287" y="60960"/>
                  </a:cubicBezTo>
                  <a:cubicBezTo>
                    <a:pt x="2718210" y="62230"/>
                    <a:pt x="2711133" y="63500"/>
                    <a:pt x="2707594" y="64770"/>
                  </a:cubicBezTo>
                  <a:cubicBezTo>
                    <a:pt x="2693440" y="68580"/>
                    <a:pt x="2682824" y="74930"/>
                    <a:pt x="2658054" y="73660"/>
                  </a:cubicBezTo>
                  <a:cubicBezTo>
                    <a:pt x="2654515" y="73660"/>
                    <a:pt x="2647438" y="76200"/>
                    <a:pt x="2640360" y="76200"/>
                  </a:cubicBezTo>
                  <a:cubicBezTo>
                    <a:pt x="2633283" y="77470"/>
                    <a:pt x="2622667" y="77470"/>
                    <a:pt x="2615590" y="78740"/>
                  </a:cubicBezTo>
                  <a:lnTo>
                    <a:pt x="2608513" y="78740"/>
                  </a:lnTo>
                  <a:cubicBezTo>
                    <a:pt x="2587281" y="81280"/>
                    <a:pt x="2569588" y="83820"/>
                    <a:pt x="2548356" y="85090"/>
                  </a:cubicBezTo>
                  <a:lnTo>
                    <a:pt x="2534202" y="85090"/>
                  </a:lnTo>
                  <a:cubicBezTo>
                    <a:pt x="2516509" y="85090"/>
                    <a:pt x="2502355" y="83820"/>
                    <a:pt x="2484661" y="83820"/>
                  </a:cubicBezTo>
                  <a:cubicBezTo>
                    <a:pt x="2466968" y="83820"/>
                    <a:pt x="2449275" y="86360"/>
                    <a:pt x="2431582" y="86360"/>
                  </a:cubicBezTo>
                  <a:cubicBezTo>
                    <a:pt x="2410350" y="86360"/>
                    <a:pt x="2385580" y="86360"/>
                    <a:pt x="2367887" y="81280"/>
                  </a:cubicBezTo>
                  <a:cubicBezTo>
                    <a:pt x="2364348" y="80010"/>
                    <a:pt x="2353732" y="80010"/>
                    <a:pt x="2346655" y="81280"/>
                  </a:cubicBezTo>
                  <a:cubicBezTo>
                    <a:pt x="2321885" y="82550"/>
                    <a:pt x="2297115" y="83820"/>
                    <a:pt x="2275883" y="86360"/>
                  </a:cubicBezTo>
                  <a:cubicBezTo>
                    <a:pt x="2254651" y="88900"/>
                    <a:pt x="2244035" y="86360"/>
                    <a:pt x="2236958" y="80010"/>
                  </a:cubicBezTo>
                  <a:cubicBezTo>
                    <a:pt x="2233420" y="77470"/>
                    <a:pt x="2226342" y="74930"/>
                    <a:pt x="2219265" y="72390"/>
                  </a:cubicBezTo>
                  <a:cubicBezTo>
                    <a:pt x="2208649" y="69850"/>
                    <a:pt x="2198033" y="66040"/>
                    <a:pt x="2187418" y="66040"/>
                  </a:cubicBezTo>
                  <a:cubicBezTo>
                    <a:pt x="2162647" y="66040"/>
                    <a:pt x="2148493" y="60960"/>
                    <a:pt x="2130799" y="57150"/>
                  </a:cubicBezTo>
                  <a:cubicBezTo>
                    <a:pt x="2102491" y="50800"/>
                    <a:pt x="2077720" y="43180"/>
                    <a:pt x="2042334" y="44450"/>
                  </a:cubicBezTo>
                  <a:lnTo>
                    <a:pt x="2042334" y="38100"/>
                  </a:lnTo>
                  <a:cubicBezTo>
                    <a:pt x="2049411" y="38100"/>
                    <a:pt x="2056489" y="38100"/>
                    <a:pt x="2063566" y="36830"/>
                  </a:cubicBezTo>
                  <a:cubicBezTo>
                    <a:pt x="2052950" y="34290"/>
                    <a:pt x="2052950" y="30480"/>
                    <a:pt x="2045873" y="27940"/>
                  </a:cubicBezTo>
                  <a:cubicBezTo>
                    <a:pt x="2031718" y="24130"/>
                    <a:pt x="2017564" y="22860"/>
                    <a:pt x="2003409" y="20320"/>
                  </a:cubicBezTo>
                  <a:cubicBezTo>
                    <a:pt x="1992794" y="19050"/>
                    <a:pt x="1978639" y="19050"/>
                    <a:pt x="1985716" y="25400"/>
                  </a:cubicBezTo>
                  <a:cubicBezTo>
                    <a:pt x="1968023" y="26670"/>
                    <a:pt x="1953869" y="26670"/>
                    <a:pt x="1946791" y="29210"/>
                  </a:cubicBezTo>
                  <a:cubicBezTo>
                    <a:pt x="1932637" y="33020"/>
                    <a:pt x="1918483" y="30480"/>
                    <a:pt x="1907867" y="27940"/>
                  </a:cubicBezTo>
                  <a:cubicBezTo>
                    <a:pt x="1900790" y="26670"/>
                    <a:pt x="1893712" y="25400"/>
                    <a:pt x="1886635" y="26670"/>
                  </a:cubicBezTo>
                  <a:cubicBezTo>
                    <a:pt x="1844172" y="34290"/>
                    <a:pt x="1801708" y="30480"/>
                    <a:pt x="1759245" y="30480"/>
                  </a:cubicBezTo>
                  <a:cubicBezTo>
                    <a:pt x="1752167" y="30480"/>
                    <a:pt x="1745090" y="29210"/>
                    <a:pt x="1734474" y="29210"/>
                  </a:cubicBezTo>
                  <a:cubicBezTo>
                    <a:pt x="1720320" y="27940"/>
                    <a:pt x="1709704" y="25400"/>
                    <a:pt x="1695550" y="24130"/>
                  </a:cubicBezTo>
                  <a:cubicBezTo>
                    <a:pt x="1681395" y="22860"/>
                    <a:pt x="1663702" y="21590"/>
                    <a:pt x="1649548" y="20320"/>
                  </a:cubicBezTo>
                  <a:lnTo>
                    <a:pt x="1638932" y="20320"/>
                  </a:lnTo>
                  <a:cubicBezTo>
                    <a:pt x="1614161" y="20320"/>
                    <a:pt x="1589391" y="21590"/>
                    <a:pt x="1568159" y="21590"/>
                  </a:cubicBezTo>
                  <a:cubicBezTo>
                    <a:pt x="1550466" y="21590"/>
                    <a:pt x="1532773" y="19050"/>
                    <a:pt x="1511541" y="17780"/>
                  </a:cubicBezTo>
                  <a:cubicBezTo>
                    <a:pt x="1508003" y="7620"/>
                    <a:pt x="1479694" y="10160"/>
                    <a:pt x="1462001" y="5080"/>
                  </a:cubicBezTo>
                  <a:cubicBezTo>
                    <a:pt x="1458462" y="3810"/>
                    <a:pt x="1451385" y="5080"/>
                    <a:pt x="1447846" y="5080"/>
                  </a:cubicBezTo>
                  <a:cubicBezTo>
                    <a:pt x="1426615" y="3810"/>
                    <a:pt x="1412460" y="7620"/>
                    <a:pt x="1405383" y="13970"/>
                  </a:cubicBezTo>
                  <a:cubicBezTo>
                    <a:pt x="1394767" y="20320"/>
                    <a:pt x="1366458" y="22860"/>
                    <a:pt x="1377074" y="33020"/>
                  </a:cubicBezTo>
                  <a:cubicBezTo>
                    <a:pt x="1380613" y="34290"/>
                    <a:pt x="1387690" y="35560"/>
                    <a:pt x="1391229" y="38100"/>
                  </a:cubicBezTo>
                  <a:cubicBezTo>
                    <a:pt x="1391229" y="41910"/>
                    <a:pt x="1387690" y="44450"/>
                    <a:pt x="1377074" y="43180"/>
                  </a:cubicBezTo>
                  <a:cubicBezTo>
                    <a:pt x="1373535" y="43180"/>
                    <a:pt x="1369997" y="45720"/>
                    <a:pt x="1366458" y="46990"/>
                  </a:cubicBezTo>
                  <a:cubicBezTo>
                    <a:pt x="1362920" y="48260"/>
                    <a:pt x="1362920" y="50800"/>
                    <a:pt x="1359381" y="50800"/>
                  </a:cubicBezTo>
                  <a:cubicBezTo>
                    <a:pt x="1338149" y="53340"/>
                    <a:pt x="1323995" y="59690"/>
                    <a:pt x="1299224" y="58420"/>
                  </a:cubicBezTo>
                  <a:lnTo>
                    <a:pt x="1292147" y="58420"/>
                  </a:lnTo>
                  <a:cubicBezTo>
                    <a:pt x="1270916" y="64770"/>
                    <a:pt x="1249684" y="63500"/>
                    <a:pt x="1224914" y="62230"/>
                  </a:cubicBezTo>
                  <a:cubicBezTo>
                    <a:pt x="1214298" y="60960"/>
                    <a:pt x="1200143" y="62230"/>
                    <a:pt x="1185989" y="62230"/>
                  </a:cubicBezTo>
                  <a:cubicBezTo>
                    <a:pt x="1175373" y="62230"/>
                    <a:pt x="1164757" y="62230"/>
                    <a:pt x="1154141" y="59690"/>
                  </a:cubicBezTo>
                  <a:cubicBezTo>
                    <a:pt x="1139987" y="57150"/>
                    <a:pt x="1125832" y="53340"/>
                    <a:pt x="1111678" y="50800"/>
                  </a:cubicBezTo>
                  <a:cubicBezTo>
                    <a:pt x="1097523" y="48260"/>
                    <a:pt x="1079830" y="48260"/>
                    <a:pt x="1079830" y="39370"/>
                  </a:cubicBezTo>
                  <a:cubicBezTo>
                    <a:pt x="1079830" y="38100"/>
                    <a:pt x="1072753" y="36830"/>
                    <a:pt x="1072753" y="35560"/>
                  </a:cubicBezTo>
                  <a:cubicBezTo>
                    <a:pt x="1047983" y="43180"/>
                    <a:pt x="1026751" y="49530"/>
                    <a:pt x="1005519" y="55880"/>
                  </a:cubicBezTo>
                  <a:cubicBezTo>
                    <a:pt x="994903" y="59690"/>
                    <a:pt x="980749" y="64770"/>
                    <a:pt x="987826" y="71120"/>
                  </a:cubicBezTo>
                  <a:cubicBezTo>
                    <a:pt x="987826" y="72390"/>
                    <a:pt x="984287" y="73660"/>
                    <a:pt x="984287" y="74930"/>
                  </a:cubicBezTo>
                  <a:cubicBezTo>
                    <a:pt x="980749" y="77470"/>
                    <a:pt x="977210" y="80010"/>
                    <a:pt x="970133" y="81280"/>
                  </a:cubicBezTo>
                  <a:cubicBezTo>
                    <a:pt x="963056" y="85090"/>
                    <a:pt x="955979" y="88900"/>
                    <a:pt x="948901" y="93980"/>
                  </a:cubicBezTo>
                  <a:lnTo>
                    <a:pt x="927670" y="101600"/>
                  </a:lnTo>
                  <a:cubicBezTo>
                    <a:pt x="920592" y="105410"/>
                    <a:pt x="913515" y="109220"/>
                    <a:pt x="902899" y="111760"/>
                  </a:cubicBezTo>
                  <a:cubicBezTo>
                    <a:pt x="878129" y="119380"/>
                    <a:pt x="853359" y="127000"/>
                    <a:pt x="825050" y="134620"/>
                  </a:cubicBezTo>
                  <a:cubicBezTo>
                    <a:pt x="810895" y="139700"/>
                    <a:pt x="793202" y="143510"/>
                    <a:pt x="779048" y="148590"/>
                  </a:cubicBezTo>
                  <a:cubicBezTo>
                    <a:pt x="754277" y="156210"/>
                    <a:pt x="725968" y="162560"/>
                    <a:pt x="711814" y="173990"/>
                  </a:cubicBezTo>
                  <a:cubicBezTo>
                    <a:pt x="711814" y="175260"/>
                    <a:pt x="704737" y="176530"/>
                    <a:pt x="701198" y="177800"/>
                  </a:cubicBezTo>
                  <a:cubicBezTo>
                    <a:pt x="683505" y="182880"/>
                    <a:pt x="655196" y="182880"/>
                    <a:pt x="655196" y="193040"/>
                  </a:cubicBezTo>
                  <a:cubicBezTo>
                    <a:pt x="626887" y="193040"/>
                    <a:pt x="612733" y="200660"/>
                    <a:pt x="598578" y="207010"/>
                  </a:cubicBezTo>
                  <a:cubicBezTo>
                    <a:pt x="587962" y="212090"/>
                    <a:pt x="577346" y="218440"/>
                    <a:pt x="563192" y="222250"/>
                  </a:cubicBezTo>
                  <a:cubicBezTo>
                    <a:pt x="549038" y="224790"/>
                    <a:pt x="531344" y="223520"/>
                    <a:pt x="513651" y="223520"/>
                  </a:cubicBezTo>
                  <a:cubicBezTo>
                    <a:pt x="506574" y="223520"/>
                    <a:pt x="499497" y="223520"/>
                    <a:pt x="499497" y="224790"/>
                  </a:cubicBezTo>
                  <a:cubicBezTo>
                    <a:pt x="485342" y="229870"/>
                    <a:pt x="467649" y="233680"/>
                    <a:pt x="457033" y="240030"/>
                  </a:cubicBezTo>
                  <a:cubicBezTo>
                    <a:pt x="446418" y="246380"/>
                    <a:pt x="435802" y="250190"/>
                    <a:pt x="418109" y="251460"/>
                  </a:cubicBezTo>
                  <a:cubicBezTo>
                    <a:pt x="400416" y="252730"/>
                    <a:pt x="382722" y="259080"/>
                    <a:pt x="357952" y="255270"/>
                  </a:cubicBezTo>
                  <a:cubicBezTo>
                    <a:pt x="336720" y="252730"/>
                    <a:pt x="311950" y="255270"/>
                    <a:pt x="297796" y="250190"/>
                  </a:cubicBezTo>
                  <a:cubicBezTo>
                    <a:pt x="269487" y="251460"/>
                    <a:pt x="248255" y="254000"/>
                    <a:pt x="223485" y="255270"/>
                  </a:cubicBezTo>
                  <a:cubicBezTo>
                    <a:pt x="195176" y="257810"/>
                    <a:pt x="163328" y="256540"/>
                    <a:pt x="138558" y="264160"/>
                  </a:cubicBezTo>
                  <a:cubicBezTo>
                    <a:pt x="117326" y="270510"/>
                    <a:pt x="99633" y="276860"/>
                    <a:pt x="67785" y="275590"/>
                  </a:cubicBezTo>
                  <a:cubicBezTo>
                    <a:pt x="71324" y="283210"/>
                    <a:pt x="74863" y="289560"/>
                    <a:pt x="78401" y="297180"/>
                  </a:cubicBezTo>
                  <a:cubicBezTo>
                    <a:pt x="85479" y="317500"/>
                    <a:pt x="92556" y="337820"/>
                    <a:pt x="96094" y="358140"/>
                  </a:cubicBezTo>
                  <a:cubicBezTo>
                    <a:pt x="106710" y="383540"/>
                    <a:pt x="110249" y="407670"/>
                    <a:pt x="103172" y="431800"/>
                  </a:cubicBezTo>
                  <a:cubicBezTo>
                    <a:pt x="96094" y="466090"/>
                    <a:pt x="64247" y="1639570"/>
                    <a:pt x="32399" y="1671320"/>
                  </a:cubicBezTo>
                  <a:lnTo>
                    <a:pt x="552" y="1697990"/>
                  </a:lnTo>
                  <a:cubicBezTo>
                    <a:pt x="-1988" y="1704340"/>
                    <a:pt x="4090" y="1708150"/>
                    <a:pt x="21783" y="1709420"/>
                  </a:cubicBezTo>
                  <a:cubicBezTo>
                    <a:pt x="43015" y="1710690"/>
                    <a:pt x="50092" y="1715770"/>
                    <a:pt x="57170" y="1722120"/>
                  </a:cubicBezTo>
                  <a:cubicBezTo>
                    <a:pt x="64247" y="1732280"/>
                    <a:pt x="53631" y="1742440"/>
                    <a:pt x="67786" y="1752600"/>
                  </a:cubicBezTo>
                  <a:cubicBezTo>
                    <a:pt x="74863" y="1757680"/>
                    <a:pt x="67786" y="1766570"/>
                    <a:pt x="64247" y="1774190"/>
                  </a:cubicBezTo>
                  <a:cubicBezTo>
                    <a:pt x="60708" y="1784350"/>
                    <a:pt x="67786" y="1794510"/>
                    <a:pt x="78401" y="1803400"/>
                  </a:cubicBezTo>
                  <a:cubicBezTo>
                    <a:pt x="103172" y="1818640"/>
                    <a:pt x="106710" y="1836420"/>
                    <a:pt x="106710" y="1852930"/>
                  </a:cubicBezTo>
                  <a:cubicBezTo>
                    <a:pt x="106710" y="1856740"/>
                    <a:pt x="110249" y="1860550"/>
                    <a:pt x="113788" y="1863090"/>
                  </a:cubicBezTo>
                  <a:cubicBezTo>
                    <a:pt x="120865" y="1865630"/>
                    <a:pt x="135019" y="1868170"/>
                    <a:pt x="149174" y="1869440"/>
                  </a:cubicBezTo>
                  <a:lnTo>
                    <a:pt x="234101" y="1884680"/>
                  </a:lnTo>
                  <a:cubicBezTo>
                    <a:pt x="273025" y="1892300"/>
                    <a:pt x="304873" y="1891030"/>
                    <a:pt x="340259" y="1882140"/>
                  </a:cubicBezTo>
                  <a:cubicBezTo>
                    <a:pt x="343798" y="1880870"/>
                    <a:pt x="354414" y="1879600"/>
                    <a:pt x="357952" y="1879600"/>
                  </a:cubicBezTo>
                  <a:cubicBezTo>
                    <a:pt x="382722" y="1880870"/>
                    <a:pt x="407493" y="1880870"/>
                    <a:pt x="428725" y="1888490"/>
                  </a:cubicBezTo>
                  <a:cubicBezTo>
                    <a:pt x="453495" y="1896110"/>
                    <a:pt x="488881" y="1901190"/>
                    <a:pt x="517190" y="1907540"/>
                  </a:cubicBezTo>
                  <a:cubicBezTo>
                    <a:pt x="534883" y="1911350"/>
                    <a:pt x="556115" y="1916430"/>
                    <a:pt x="566731" y="1921510"/>
                  </a:cubicBezTo>
                  <a:cubicBezTo>
                    <a:pt x="573808" y="1924050"/>
                    <a:pt x="580885" y="1926590"/>
                    <a:pt x="587962" y="1927860"/>
                  </a:cubicBezTo>
                  <a:cubicBezTo>
                    <a:pt x="626887" y="1932940"/>
                    <a:pt x="648119" y="1945640"/>
                    <a:pt x="672889" y="1955800"/>
                  </a:cubicBezTo>
                  <a:cubicBezTo>
                    <a:pt x="694121" y="1964690"/>
                    <a:pt x="722430" y="1969770"/>
                    <a:pt x="754277" y="1971040"/>
                  </a:cubicBezTo>
                  <a:cubicBezTo>
                    <a:pt x="789664" y="1973580"/>
                    <a:pt x="825050" y="1974850"/>
                    <a:pt x="860436" y="1977390"/>
                  </a:cubicBezTo>
                  <a:cubicBezTo>
                    <a:pt x="874590" y="1978660"/>
                    <a:pt x="892283" y="1979930"/>
                    <a:pt x="906438" y="1982470"/>
                  </a:cubicBezTo>
                  <a:cubicBezTo>
                    <a:pt x="924131" y="1985010"/>
                    <a:pt x="941824" y="1985010"/>
                    <a:pt x="955979" y="1988820"/>
                  </a:cubicBezTo>
                  <a:cubicBezTo>
                    <a:pt x="977210" y="1995170"/>
                    <a:pt x="998442" y="1998980"/>
                    <a:pt x="1026751" y="1996440"/>
                  </a:cubicBezTo>
                  <a:cubicBezTo>
                    <a:pt x="1037367" y="1995170"/>
                    <a:pt x="1051521" y="1997710"/>
                    <a:pt x="1062137" y="1998980"/>
                  </a:cubicBezTo>
                  <a:cubicBezTo>
                    <a:pt x="1065676" y="1998980"/>
                    <a:pt x="1069214" y="2000250"/>
                    <a:pt x="1072753" y="2000250"/>
                  </a:cubicBezTo>
                  <a:cubicBezTo>
                    <a:pt x="1111678" y="2001520"/>
                    <a:pt x="1147064" y="1998980"/>
                    <a:pt x="1182450" y="1996440"/>
                  </a:cubicBezTo>
                  <a:cubicBezTo>
                    <a:pt x="1196604" y="1995170"/>
                    <a:pt x="1210759" y="1993900"/>
                    <a:pt x="1224914" y="1991360"/>
                  </a:cubicBezTo>
                  <a:cubicBezTo>
                    <a:pt x="1263838" y="1985010"/>
                    <a:pt x="1302763" y="1978660"/>
                    <a:pt x="1338149" y="1971040"/>
                  </a:cubicBezTo>
                  <a:cubicBezTo>
                    <a:pt x="1362920" y="1965960"/>
                    <a:pt x="1387690" y="1960880"/>
                    <a:pt x="1415999" y="1965960"/>
                  </a:cubicBezTo>
                  <a:lnTo>
                    <a:pt x="1430153" y="1965960"/>
                  </a:lnTo>
                  <a:cubicBezTo>
                    <a:pt x="1454924" y="1965960"/>
                    <a:pt x="1479694" y="1964690"/>
                    <a:pt x="1500926" y="1963420"/>
                  </a:cubicBezTo>
                  <a:cubicBezTo>
                    <a:pt x="1504464" y="1963420"/>
                    <a:pt x="1511541" y="1963420"/>
                    <a:pt x="1511541" y="1962150"/>
                  </a:cubicBezTo>
                  <a:cubicBezTo>
                    <a:pt x="1522157" y="1957070"/>
                    <a:pt x="1539850" y="1957070"/>
                    <a:pt x="1557543" y="1955800"/>
                  </a:cubicBezTo>
                  <a:cubicBezTo>
                    <a:pt x="1585853" y="1954530"/>
                    <a:pt x="1614161" y="1954530"/>
                    <a:pt x="1635393" y="1948180"/>
                  </a:cubicBezTo>
                  <a:cubicBezTo>
                    <a:pt x="1656625" y="1943100"/>
                    <a:pt x="1677857" y="1941830"/>
                    <a:pt x="1702627" y="1940560"/>
                  </a:cubicBezTo>
                  <a:cubicBezTo>
                    <a:pt x="1706166" y="1940560"/>
                    <a:pt x="1713243" y="1939290"/>
                    <a:pt x="1716781" y="1939290"/>
                  </a:cubicBezTo>
                  <a:cubicBezTo>
                    <a:pt x="1734474" y="1938020"/>
                    <a:pt x="1752167" y="1934210"/>
                    <a:pt x="1766322" y="1935480"/>
                  </a:cubicBezTo>
                  <a:cubicBezTo>
                    <a:pt x="1798169" y="1938020"/>
                    <a:pt x="1812324" y="1934210"/>
                    <a:pt x="1833556" y="1924050"/>
                  </a:cubicBezTo>
                  <a:cubicBezTo>
                    <a:pt x="1837094" y="1921510"/>
                    <a:pt x="1847710" y="1920240"/>
                    <a:pt x="1854787" y="1918970"/>
                  </a:cubicBezTo>
                  <a:cubicBezTo>
                    <a:pt x="1872481" y="1917700"/>
                    <a:pt x="1890174" y="1918970"/>
                    <a:pt x="1907867" y="1917700"/>
                  </a:cubicBezTo>
                  <a:cubicBezTo>
                    <a:pt x="1918483" y="1917700"/>
                    <a:pt x="1929098" y="1913890"/>
                    <a:pt x="1936176" y="1913890"/>
                  </a:cubicBezTo>
                  <a:cubicBezTo>
                    <a:pt x="1964484" y="1915160"/>
                    <a:pt x="1996332" y="1911350"/>
                    <a:pt x="2021103" y="1917700"/>
                  </a:cubicBezTo>
                  <a:cubicBezTo>
                    <a:pt x="2024641" y="1918970"/>
                    <a:pt x="2031718" y="1918970"/>
                    <a:pt x="2038796" y="1918970"/>
                  </a:cubicBezTo>
                  <a:cubicBezTo>
                    <a:pt x="2084798" y="1920240"/>
                    <a:pt x="2123722" y="1925320"/>
                    <a:pt x="2155570" y="1935480"/>
                  </a:cubicBezTo>
                  <a:cubicBezTo>
                    <a:pt x="2166186" y="1939290"/>
                    <a:pt x="2180340" y="1941830"/>
                    <a:pt x="2190956" y="1944370"/>
                  </a:cubicBezTo>
                  <a:cubicBezTo>
                    <a:pt x="2201572" y="1946910"/>
                    <a:pt x="2215726" y="1946910"/>
                    <a:pt x="2226342" y="1948180"/>
                  </a:cubicBezTo>
                  <a:cubicBezTo>
                    <a:pt x="2236958" y="1949450"/>
                    <a:pt x="2244035" y="1950720"/>
                    <a:pt x="2254651" y="1950720"/>
                  </a:cubicBezTo>
                  <a:cubicBezTo>
                    <a:pt x="2272344" y="1950720"/>
                    <a:pt x="2286499" y="1953260"/>
                    <a:pt x="2297115" y="1958340"/>
                  </a:cubicBezTo>
                  <a:cubicBezTo>
                    <a:pt x="2300653" y="1959610"/>
                    <a:pt x="2304192" y="1960880"/>
                    <a:pt x="2307731" y="1963420"/>
                  </a:cubicBezTo>
                  <a:cubicBezTo>
                    <a:pt x="2304192" y="1967230"/>
                    <a:pt x="2325424" y="1977390"/>
                    <a:pt x="2339578" y="1977390"/>
                  </a:cubicBezTo>
                  <a:cubicBezTo>
                    <a:pt x="2364348" y="1977390"/>
                    <a:pt x="2389119" y="1979930"/>
                    <a:pt x="2410350" y="1986280"/>
                  </a:cubicBezTo>
                  <a:cubicBezTo>
                    <a:pt x="2413889" y="1987550"/>
                    <a:pt x="2420966" y="1987550"/>
                    <a:pt x="2428043" y="1986280"/>
                  </a:cubicBezTo>
                  <a:cubicBezTo>
                    <a:pt x="2438659" y="1985010"/>
                    <a:pt x="2445736" y="1985010"/>
                    <a:pt x="2452814" y="1988820"/>
                  </a:cubicBezTo>
                  <a:cubicBezTo>
                    <a:pt x="2456352" y="1990090"/>
                    <a:pt x="2470507" y="1990090"/>
                    <a:pt x="2477584" y="1990090"/>
                  </a:cubicBezTo>
                  <a:cubicBezTo>
                    <a:pt x="2495277" y="1990090"/>
                    <a:pt x="2516509" y="1988820"/>
                    <a:pt x="2534202" y="1990090"/>
                  </a:cubicBezTo>
                  <a:cubicBezTo>
                    <a:pt x="2566049" y="1991360"/>
                    <a:pt x="2594359" y="1992630"/>
                    <a:pt x="2626206" y="1995170"/>
                  </a:cubicBezTo>
                  <a:cubicBezTo>
                    <a:pt x="2633283" y="1995170"/>
                    <a:pt x="2640360" y="1996440"/>
                    <a:pt x="2643899" y="1997710"/>
                  </a:cubicBezTo>
                  <a:cubicBezTo>
                    <a:pt x="2650976" y="2004060"/>
                    <a:pt x="2668670" y="2004060"/>
                    <a:pt x="2679285" y="2005330"/>
                  </a:cubicBezTo>
                  <a:cubicBezTo>
                    <a:pt x="2689901" y="2006600"/>
                    <a:pt x="2704056" y="2007870"/>
                    <a:pt x="2711133" y="2007870"/>
                  </a:cubicBezTo>
                  <a:cubicBezTo>
                    <a:pt x="2714672" y="2006600"/>
                    <a:pt x="2721749" y="2005330"/>
                    <a:pt x="2728826" y="2002790"/>
                  </a:cubicBezTo>
                  <a:cubicBezTo>
                    <a:pt x="2714672" y="2002790"/>
                    <a:pt x="2707594" y="2004060"/>
                    <a:pt x="2700517" y="2004060"/>
                  </a:cubicBezTo>
                  <a:cubicBezTo>
                    <a:pt x="2714672" y="1997710"/>
                    <a:pt x="2728826" y="1996440"/>
                    <a:pt x="2746519" y="2000250"/>
                  </a:cubicBezTo>
                  <a:cubicBezTo>
                    <a:pt x="2767751" y="2006600"/>
                    <a:pt x="2785444" y="2006600"/>
                    <a:pt x="2810214" y="2000250"/>
                  </a:cubicBezTo>
                  <a:lnTo>
                    <a:pt x="2831446" y="1996440"/>
                  </a:lnTo>
                  <a:lnTo>
                    <a:pt x="2831446" y="1990090"/>
                  </a:lnTo>
                  <a:cubicBezTo>
                    <a:pt x="2842062" y="1991360"/>
                    <a:pt x="2852678" y="1993900"/>
                    <a:pt x="2859755" y="1993900"/>
                  </a:cubicBezTo>
                  <a:cubicBezTo>
                    <a:pt x="2880986" y="1990090"/>
                    <a:pt x="2902218" y="1986280"/>
                    <a:pt x="2919911" y="1981200"/>
                  </a:cubicBezTo>
                  <a:cubicBezTo>
                    <a:pt x="2941143" y="1976120"/>
                    <a:pt x="2958836" y="1969770"/>
                    <a:pt x="2976529" y="1964690"/>
                  </a:cubicBezTo>
                  <a:cubicBezTo>
                    <a:pt x="2980068" y="1964690"/>
                    <a:pt x="2980068" y="1963420"/>
                    <a:pt x="2983607" y="1963420"/>
                  </a:cubicBezTo>
                  <a:cubicBezTo>
                    <a:pt x="3008377" y="1960880"/>
                    <a:pt x="3029608" y="1959610"/>
                    <a:pt x="3054379" y="1957070"/>
                  </a:cubicBezTo>
                  <a:cubicBezTo>
                    <a:pt x="3068533" y="1955800"/>
                    <a:pt x="3079149" y="1953260"/>
                    <a:pt x="3093304" y="1951990"/>
                  </a:cubicBezTo>
                  <a:cubicBezTo>
                    <a:pt x="3103920" y="1950720"/>
                    <a:pt x="3110997" y="1950720"/>
                    <a:pt x="3121613" y="1949450"/>
                  </a:cubicBezTo>
                  <a:lnTo>
                    <a:pt x="3156999" y="1949450"/>
                  </a:lnTo>
                  <a:cubicBezTo>
                    <a:pt x="3164076" y="1949450"/>
                    <a:pt x="3174692" y="1949450"/>
                    <a:pt x="3181769" y="1948180"/>
                  </a:cubicBezTo>
                  <a:cubicBezTo>
                    <a:pt x="3185308" y="1945640"/>
                    <a:pt x="3192385" y="1941830"/>
                    <a:pt x="3195924" y="1941830"/>
                  </a:cubicBezTo>
                  <a:cubicBezTo>
                    <a:pt x="3206539" y="1941830"/>
                    <a:pt x="3213617" y="1944370"/>
                    <a:pt x="3224232" y="1945640"/>
                  </a:cubicBezTo>
                  <a:cubicBezTo>
                    <a:pt x="3227771" y="1945640"/>
                    <a:pt x="3227771" y="1946910"/>
                    <a:pt x="3227771" y="1948180"/>
                  </a:cubicBezTo>
                  <a:cubicBezTo>
                    <a:pt x="3241925" y="1953260"/>
                    <a:pt x="3252541" y="1959610"/>
                    <a:pt x="3266696" y="1964690"/>
                  </a:cubicBezTo>
                  <a:cubicBezTo>
                    <a:pt x="3284389" y="1971040"/>
                    <a:pt x="3302082" y="1971040"/>
                    <a:pt x="3312698" y="1967230"/>
                  </a:cubicBezTo>
                  <a:cubicBezTo>
                    <a:pt x="3330391" y="1962150"/>
                    <a:pt x="3344546" y="1958340"/>
                    <a:pt x="3369316" y="1960880"/>
                  </a:cubicBezTo>
                  <a:cubicBezTo>
                    <a:pt x="3372854" y="1960880"/>
                    <a:pt x="3379931" y="1962150"/>
                    <a:pt x="3383470" y="1960880"/>
                  </a:cubicBezTo>
                  <a:cubicBezTo>
                    <a:pt x="3401163" y="1958340"/>
                    <a:pt x="3422395" y="1955800"/>
                    <a:pt x="3440088" y="1951990"/>
                  </a:cubicBezTo>
                  <a:cubicBezTo>
                    <a:pt x="3450704" y="1950720"/>
                    <a:pt x="3464858" y="1950720"/>
                    <a:pt x="3468397" y="1948180"/>
                  </a:cubicBezTo>
                  <a:cubicBezTo>
                    <a:pt x="3479013" y="1940560"/>
                    <a:pt x="3496706" y="1936750"/>
                    <a:pt x="3514399" y="1931670"/>
                  </a:cubicBezTo>
                  <a:cubicBezTo>
                    <a:pt x="3525015" y="1927860"/>
                    <a:pt x="3535631" y="1922780"/>
                    <a:pt x="3546247" y="1921510"/>
                  </a:cubicBezTo>
                  <a:cubicBezTo>
                    <a:pt x="3571017" y="1918970"/>
                    <a:pt x="3588710" y="1911350"/>
                    <a:pt x="3609942" y="1906270"/>
                  </a:cubicBezTo>
                  <a:cubicBezTo>
                    <a:pt x="3627635" y="1902460"/>
                    <a:pt x="3638251" y="1894840"/>
                    <a:pt x="3655944" y="1893570"/>
                  </a:cubicBezTo>
                  <a:cubicBezTo>
                    <a:pt x="3684253" y="1891030"/>
                    <a:pt x="3705484" y="1884680"/>
                    <a:pt x="3730255" y="1878330"/>
                  </a:cubicBezTo>
                  <a:cubicBezTo>
                    <a:pt x="3744409" y="1874520"/>
                    <a:pt x="3762102" y="1871980"/>
                    <a:pt x="3779795" y="1873250"/>
                  </a:cubicBezTo>
                  <a:cubicBezTo>
                    <a:pt x="3790411" y="1874520"/>
                    <a:pt x="3804566" y="1873250"/>
                    <a:pt x="3811643" y="1871980"/>
                  </a:cubicBezTo>
                  <a:cubicBezTo>
                    <a:pt x="3825797" y="1869440"/>
                    <a:pt x="3839952" y="1865630"/>
                    <a:pt x="3854106" y="1863090"/>
                  </a:cubicBezTo>
                  <a:cubicBezTo>
                    <a:pt x="3864722" y="1860550"/>
                    <a:pt x="3875338" y="1858010"/>
                    <a:pt x="3885954" y="1858010"/>
                  </a:cubicBezTo>
                  <a:cubicBezTo>
                    <a:pt x="3921340" y="1856740"/>
                    <a:pt x="3949649" y="1854200"/>
                    <a:pt x="3967342" y="1841500"/>
                  </a:cubicBezTo>
                  <a:cubicBezTo>
                    <a:pt x="3974420" y="1836420"/>
                    <a:pt x="4009806" y="1830070"/>
                    <a:pt x="4023960" y="1832610"/>
                  </a:cubicBezTo>
                  <a:cubicBezTo>
                    <a:pt x="4048730" y="1836420"/>
                    <a:pt x="4066424" y="1833880"/>
                    <a:pt x="4080578" y="1826260"/>
                  </a:cubicBezTo>
                  <a:cubicBezTo>
                    <a:pt x="4091194" y="1822450"/>
                    <a:pt x="4105348" y="1823720"/>
                    <a:pt x="4115964" y="1826260"/>
                  </a:cubicBezTo>
                  <a:cubicBezTo>
                    <a:pt x="4123041" y="1828800"/>
                    <a:pt x="4130119" y="1830070"/>
                    <a:pt x="4137196" y="1830070"/>
                  </a:cubicBezTo>
                  <a:cubicBezTo>
                    <a:pt x="4161966" y="1831340"/>
                    <a:pt x="4190275" y="1830070"/>
                    <a:pt x="4215045" y="1831340"/>
                  </a:cubicBezTo>
                  <a:cubicBezTo>
                    <a:pt x="4236277" y="1832610"/>
                    <a:pt x="4257509" y="1830070"/>
                    <a:pt x="4271663" y="1824990"/>
                  </a:cubicBezTo>
                  <a:cubicBezTo>
                    <a:pt x="4285818" y="1819910"/>
                    <a:pt x="4296434" y="1819910"/>
                    <a:pt x="4317665" y="1822450"/>
                  </a:cubicBezTo>
                  <a:cubicBezTo>
                    <a:pt x="4335358" y="1824990"/>
                    <a:pt x="4349513" y="1831340"/>
                    <a:pt x="4374283" y="1830070"/>
                  </a:cubicBezTo>
                  <a:cubicBezTo>
                    <a:pt x="4395515" y="1828800"/>
                    <a:pt x="4420285" y="1832610"/>
                    <a:pt x="4445056" y="1828800"/>
                  </a:cubicBezTo>
                  <a:lnTo>
                    <a:pt x="4459210" y="1828800"/>
                  </a:lnTo>
                  <a:cubicBezTo>
                    <a:pt x="4480442" y="1831340"/>
                    <a:pt x="4501673" y="1832610"/>
                    <a:pt x="4519366" y="1838960"/>
                  </a:cubicBezTo>
                  <a:cubicBezTo>
                    <a:pt x="4540598" y="1845310"/>
                    <a:pt x="4544137" y="1798320"/>
                    <a:pt x="4565369" y="1803400"/>
                  </a:cubicBezTo>
                  <a:cubicBezTo>
                    <a:pt x="4597216" y="1811020"/>
                    <a:pt x="4590139" y="1803400"/>
                    <a:pt x="4621986" y="1809750"/>
                  </a:cubicBezTo>
                  <a:cubicBezTo>
                    <a:pt x="4646756" y="1813560"/>
                    <a:pt x="4636141" y="1799590"/>
                    <a:pt x="4664449" y="1802130"/>
                  </a:cubicBezTo>
                  <a:cubicBezTo>
                    <a:pt x="4667988" y="1802130"/>
                    <a:pt x="4710452" y="1812290"/>
                    <a:pt x="4710452" y="1811020"/>
                  </a:cubicBezTo>
                  <a:cubicBezTo>
                    <a:pt x="4728145" y="1807210"/>
                    <a:pt x="4745838" y="1769110"/>
                    <a:pt x="4763531" y="1770380"/>
                  </a:cubicBezTo>
                  <a:cubicBezTo>
                    <a:pt x="4798917" y="1774190"/>
                    <a:pt x="4830765" y="1771650"/>
                    <a:pt x="4862613" y="1766570"/>
                  </a:cubicBezTo>
                  <a:cubicBezTo>
                    <a:pt x="4880305" y="1764030"/>
                    <a:pt x="4908614" y="1755140"/>
                    <a:pt x="4922769" y="1758950"/>
                  </a:cubicBezTo>
                  <a:cubicBezTo>
                    <a:pt x="4947539" y="1765300"/>
                    <a:pt x="4972310" y="1767840"/>
                    <a:pt x="5000618" y="1769110"/>
                  </a:cubicBezTo>
                  <a:cubicBezTo>
                    <a:pt x="5004157" y="1769110"/>
                    <a:pt x="5007696" y="1770380"/>
                    <a:pt x="5011234" y="1771650"/>
                  </a:cubicBezTo>
                  <a:cubicBezTo>
                    <a:pt x="5021850" y="1776730"/>
                    <a:pt x="5071391" y="1762760"/>
                    <a:pt x="5082007" y="1767840"/>
                  </a:cubicBezTo>
                  <a:cubicBezTo>
                    <a:pt x="5096162" y="1775460"/>
                    <a:pt x="5110316" y="1783080"/>
                    <a:pt x="5124470" y="1789430"/>
                  </a:cubicBezTo>
                  <a:cubicBezTo>
                    <a:pt x="5131548" y="1791970"/>
                    <a:pt x="5142163" y="1793240"/>
                    <a:pt x="5145702" y="1795780"/>
                  </a:cubicBezTo>
                  <a:cubicBezTo>
                    <a:pt x="5149241" y="1802130"/>
                    <a:pt x="5156318" y="1804670"/>
                    <a:pt x="5174011" y="1804670"/>
                  </a:cubicBezTo>
                  <a:cubicBezTo>
                    <a:pt x="5184627" y="1804670"/>
                    <a:pt x="5195242" y="1805940"/>
                    <a:pt x="5202320" y="1808480"/>
                  </a:cubicBezTo>
                  <a:cubicBezTo>
                    <a:pt x="5220013" y="1812290"/>
                    <a:pt x="5234167" y="1816100"/>
                    <a:pt x="5248322" y="1819910"/>
                  </a:cubicBezTo>
                  <a:cubicBezTo>
                    <a:pt x="5266015" y="1823720"/>
                    <a:pt x="5283708" y="1827530"/>
                    <a:pt x="5290785" y="1833880"/>
                  </a:cubicBezTo>
                  <a:cubicBezTo>
                    <a:pt x="5294324" y="1836420"/>
                    <a:pt x="5297862" y="1837690"/>
                    <a:pt x="5301401" y="1838960"/>
                  </a:cubicBezTo>
                  <a:cubicBezTo>
                    <a:pt x="5315555" y="1844040"/>
                    <a:pt x="5329710" y="1847850"/>
                    <a:pt x="5343865" y="1852930"/>
                  </a:cubicBezTo>
                  <a:cubicBezTo>
                    <a:pt x="5365096" y="1859280"/>
                    <a:pt x="5382789" y="1866900"/>
                    <a:pt x="5404021" y="1873250"/>
                  </a:cubicBezTo>
                  <a:cubicBezTo>
                    <a:pt x="5411098" y="1874520"/>
                    <a:pt x="5418175" y="1877060"/>
                    <a:pt x="5425252" y="1878330"/>
                  </a:cubicBezTo>
                  <a:cubicBezTo>
                    <a:pt x="5439407" y="1880870"/>
                    <a:pt x="5453561" y="1883410"/>
                    <a:pt x="5464177" y="1887220"/>
                  </a:cubicBezTo>
                  <a:cubicBezTo>
                    <a:pt x="5474793" y="1891030"/>
                    <a:pt x="5524334" y="1868170"/>
                    <a:pt x="5531411" y="1873250"/>
                  </a:cubicBezTo>
                  <a:cubicBezTo>
                    <a:pt x="5531411" y="1874520"/>
                    <a:pt x="5534950" y="1874520"/>
                    <a:pt x="5538489" y="1874520"/>
                  </a:cubicBezTo>
                  <a:cubicBezTo>
                    <a:pt x="5559720" y="1880870"/>
                    <a:pt x="5580952" y="1878330"/>
                    <a:pt x="5602183" y="1875790"/>
                  </a:cubicBezTo>
                  <a:cubicBezTo>
                    <a:pt x="5609261" y="1874520"/>
                    <a:pt x="5616338" y="1873250"/>
                    <a:pt x="5619876" y="1874520"/>
                  </a:cubicBezTo>
                  <a:cubicBezTo>
                    <a:pt x="5644647" y="1878330"/>
                    <a:pt x="5662340" y="1887220"/>
                    <a:pt x="5694187" y="1888490"/>
                  </a:cubicBezTo>
                  <a:cubicBezTo>
                    <a:pt x="5694187" y="1888490"/>
                    <a:pt x="5697726" y="1888490"/>
                    <a:pt x="5697726" y="1889760"/>
                  </a:cubicBezTo>
                  <a:cubicBezTo>
                    <a:pt x="5704803" y="1897380"/>
                    <a:pt x="5726035" y="1897380"/>
                    <a:pt x="5743728" y="1898650"/>
                  </a:cubicBezTo>
                  <a:cubicBezTo>
                    <a:pt x="5754344" y="1898650"/>
                    <a:pt x="5764960" y="1899920"/>
                    <a:pt x="5772037" y="1901190"/>
                  </a:cubicBezTo>
                  <a:cubicBezTo>
                    <a:pt x="5793269" y="1905000"/>
                    <a:pt x="5814500" y="1910080"/>
                    <a:pt x="5839271" y="1912620"/>
                  </a:cubicBezTo>
                  <a:cubicBezTo>
                    <a:pt x="5871118" y="1916430"/>
                    <a:pt x="5902966" y="1918970"/>
                    <a:pt x="5927737" y="1925320"/>
                  </a:cubicBezTo>
                  <a:cubicBezTo>
                    <a:pt x="5931275" y="1925320"/>
                    <a:pt x="5934814" y="1925320"/>
                    <a:pt x="5934814" y="1926590"/>
                  </a:cubicBezTo>
                  <a:cubicBezTo>
                    <a:pt x="5945429" y="1929130"/>
                    <a:pt x="5963123" y="1930400"/>
                    <a:pt x="5970200" y="1934210"/>
                  </a:cubicBezTo>
                  <a:cubicBezTo>
                    <a:pt x="5980816" y="1941830"/>
                    <a:pt x="6009124" y="1940560"/>
                    <a:pt x="6023279" y="1946910"/>
                  </a:cubicBezTo>
                  <a:lnTo>
                    <a:pt x="6026817" y="1946910"/>
                  </a:lnTo>
                  <a:cubicBezTo>
                    <a:pt x="6040972" y="1946910"/>
                    <a:pt x="6055127" y="1948180"/>
                    <a:pt x="6072820" y="1948180"/>
                  </a:cubicBezTo>
                  <a:cubicBezTo>
                    <a:pt x="6079897" y="1946910"/>
                    <a:pt x="6090512" y="1944370"/>
                    <a:pt x="6097590" y="1944370"/>
                  </a:cubicBezTo>
                  <a:cubicBezTo>
                    <a:pt x="6129438" y="1948180"/>
                    <a:pt x="6161285" y="1948180"/>
                    <a:pt x="6182517" y="1938020"/>
                  </a:cubicBezTo>
                  <a:cubicBezTo>
                    <a:pt x="6186055" y="1936750"/>
                    <a:pt x="6193133" y="1936750"/>
                    <a:pt x="6200210" y="1936750"/>
                  </a:cubicBezTo>
                  <a:lnTo>
                    <a:pt x="6228519" y="1936750"/>
                  </a:lnTo>
                  <a:cubicBezTo>
                    <a:pt x="6260366" y="1934210"/>
                    <a:pt x="6288676" y="1931670"/>
                    <a:pt x="6320523" y="1930400"/>
                  </a:cubicBezTo>
                  <a:cubicBezTo>
                    <a:pt x="6334677" y="1929130"/>
                    <a:pt x="6352370" y="1931670"/>
                    <a:pt x="6366525" y="1932940"/>
                  </a:cubicBezTo>
                  <a:cubicBezTo>
                    <a:pt x="6380679" y="1934210"/>
                    <a:pt x="6394834" y="1934210"/>
                    <a:pt x="6408988" y="1934210"/>
                  </a:cubicBezTo>
                  <a:cubicBezTo>
                    <a:pt x="6426681" y="1934210"/>
                    <a:pt x="6440836" y="1931670"/>
                    <a:pt x="6458529" y="1931670"/>
                  </a:cubicBezTo>
                  <a:cubicBezTo>
                    <a:pt x="6472683" y="1930400"/>
                    <a:pt x="6490376" y="1930400"/>
                    <a:pt x="6504531" y="1929130"/>
                  </a:cubicBezTo>
                  <a:cubicBezTo>
                    <a:pt x="6536379" y="1926590"/>
                    <a:pt x="6564688" y="1924050"/>
                    <a:pt x="6596535" y="1922780"/>
                  </a:cubicBezTo>
                  <a:cubicBezTo>
                    <a:pt x="6617767" y="1879600"/>
                    <a:pt x="6614228" y="1828800"/>
                    <a:pt x="6614228" y="1776730"/>
                  </a:cubicBezTo>
                  <a:close/>
                </a:path>
              </a:pathLst>
            </a:custGeom>
            <a:blipFill>
              <a:blip r:embed="rId4"/>
              <a:stretch>
                <a:fillRect t="-41640" b="-4164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Section Header"/>
          <p:cNvSpPr txBox="1"/>
          <p:nvPr/>
        </p:nvSpPr>
        <p:spPr>
          <a:xfrm>
            <a:off x="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777240" indent="-388620" algn="l">
              <a:buFont typeface="Arial"/>
              <a:buChar char="•"/>
            </a:pPr>
            <a:r>
              <a:rPr sz="3600" b="1" i="0">
                <a:solidFill>
                  <a:srgbClr val="B5451B"/>
                </a:solidFill>
                <a:latin typeface="Cambria"/>
              </a:rPr>
              <a:t>Conclusion</a:t>
            </a:r>
          </a:p>
        </p:txBody>
      </p:sp>
      <p:sp>
        <p:nvSpPr>
          <p:cNvPr id="6" name="Slide Title"/>
          <p:cNvSpPr txBox="1"/>
          <p:nvPr/>
        </p:nvSpPr>
        <p:spPr>
          <a:xfrm>
            <a:off x="777240" y="1188720"/>
            <a:ext cx="167335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1A1A17"/>
                </a:solidFill>
                <a:latin typeface="Cambria"/>
              </a:rPr>
              <a:t>Main takeaways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31920"/>
            <a:ext cx="3977639" cy="361188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LuCircleCheck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206240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5029200"/>
            <a:ext cx="3428999" cy="2423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2100" b="1" i="0">
                <a:solidFill>
                  <a:srgbClr val="1A1A17"/>
                </a:solidFill>
                <a:latin typeface="Calibri"/>
              </a:rPr>
              <a:t>It works on cameras it has never seen</a:t>
            </a:r>
          </a:p>
          <a:p>
            <a:pPr algn="l">
              <a:lnSpc>
                <a:spcPct val="106000"/>
              </a:lnSpc>
            </a:pPr>
            <a:r>
              <a:rPr sz="1700" b="0" i="0">
                <a:solidFill>
                  <a:srgbClr val="5F5C55"/>
                </a:solidFill>
                <a:latin typeface="Calibri"/>
              </a:rPr>
              <a:t>0.908 honest macro F1 and 90.3% accuracy per burst across 29 unseen camera locations.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9" y="3931920"/>
            <a:ext cx="3977639" cy="361188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LuCircleCheck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39" y="4206240"/>
            <a:ext cx="685800" cy="685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49239" y="5029200"/>
            <a:ext cx="3428999" cy="2423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2100" b="1" i="0">
                <a:solidFill>
                  <a:srgbClr val="1A1A17"/>
                </a:solidFill>
                <a:latin typeface="Calibri"/>
              </a:rPr>
              <a:t>Start from camera-trap foundation models</a:t>
            </a:r>
          </a:p>
          <a:p>
            <a:pPr algn="l">
              <a:lnSpc>
                <a:spcPct val="106000"/>
              </a:lnSpc>
            </a:pPr>
            <a:r>
              <a:rPr sz="1700" b="0" i="0">
                <a:solidFill>
                  <a:srgbClr val="5F5C55"/>
                </a:solidFill>
                <a:latin typeface="Calibri"/>
              </a:rPr>
              <a:t>SpeciesNet features beat every generic backbone we tried; zero-shot alone reached 0.825 per burst.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59" y="3931920"/>
            <a:ext cx="3977639" cy="361188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Picture 13" descr="LuCircleCheck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199" y="4206240"/>
            <a:ext cx="685800" cy="685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01199" y="5029200"/>
            <a:ext cx="3428999" cy="2423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2100" b="1" i="0">
                <a:solidFill>
                  <a:srgbClr val="1A1A17"/>
                </a:solidFill>
                <a:latin typeface="Calibri"/>
              </a:rPr>
              <a:t>Honest evaluation makes the number trustworthy</a:t>
            </a:r>
          </a:p>
          <a:p>
            <a:pPr algn="l">
              <a:lnSpc>
                <a:spcPct val="106000"/>
              </a:lnSpc>
            </a:pPr>
            <a:r>
              <a:rPr sz="1700" b="0" i="0">
                <a:solidFill>
                  <a:srgbClr val="5F5C55"/>
                </a:solidFill>
                <a:latin typeface="Calibri"/>
              </a:rPr>
              <a:t>Split by camera, select on held-out cameras, and exclude classes the background gives away.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533119" y="3931920"/>
            <a:ext cx="3977639" cy="361188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9525">
            <a:solidFill>
              <a:srgbClr val="DFDACE"/>
            </a:solidFill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Picture 16" descr="LuCircleCheck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3159" y="4206240"/>
            <a:ext cx="685800" cy="685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853159" y="5029200"/>
            <a:ext cx="3428999" cy="2423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2100" b="1" i="0">
                <a:solidFill>
                  <a:srgbClr val="1A1A17"/>
                </a:solidFill>
                <a:latin typeface="Calibri"/>
              </a:rPr>
              <a:t>The remaining gap is known</a:t>
            </a:r>
          </a:p>
          <a:p>
            <a:pPr algn="l">
              <a:lnSpc>
                <a:spcPct val="106000"/>
              </a:lnSpc>
            </a:pPr>
            <a:r>
              <a:rPr sz="1700" b="0" i="0">
                <a:solidFill>
                  <a:srgbClr val="5F5C55"/>
                </a:solidFill>
                <a:latin typeface="Calibri"/>
              </a:rPr>
              <a:t>Empty-vs-animal confusion and the rarest mammals (agouti, puma, gray fox) hold most of the errors.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7863840"/>
            <a:ext cx="16733520" cy="1463040"/>
          </a:xfrm>
          <a:prstGeom prst="roundRect">
            <a:avLst>
              <a:gd name="adj" fmla="val 6000"/>
            </a:avLst>
          </a:prstGeom>
          <a:solidFill>
            <a:srgbClr val="1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82880" rIns="411480" bIns="182880" rtlCol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 spc="140">
                <a:solidFill>
                  <a:srgbClr val="C9A66B"/>
                </a:solidFill>
                <a:latin typeface="Calibri"/>
              </a:rPr>
              <a:t>NEXT STEPS   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Whole-image SpeciesNet for frames with no confident detection  ·  fine-tune on KARR's own labelled Arabian species  ·  serve the exported model behind a confidence-ranked review queue and dashboard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47" t="-13643" r="-77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 flipH="1">
            <a:off x="9144000" y="1508796"/>
            <a:ext cx="9211063" cy="9218745"/>
          </a:xfrm>
          <a:custGeom>
            <a:avLst/>
            <a:gdLst/>
            <a:ahLst/>
            <a:cxnLst/>
            <a:rect l="l" t="t" r="r" b="b"/>
            <a:pathLst>
              <a:path w="9211063" h="9218745">
                <a:moveTo>
                  <a:pt x="9211063" y="0"/>
                </a:moveTo>
                <a:lnTo>
                  <a:pt x="0" y="0"/>
                </a:lnTo>
                <a:lnTo>
                  <a:pt x="0" y="9218745"/>
                </a:lnTo>
                <a:lnTo>
                  <a:pt x="9211063" y="9218745"/>
                </a:lnTo>
                <a:lnTo>
                  <a:pt x="921106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800000" flipH="1" flipV="1">
            <a:off x="9575487" y="-8695"/>
            <a:ext cx="8779576" cy="8786899"/>
          </a:xfrm>
          <a:custGeom>
            <a:avLst/>
            <a:gdLst/>
            <a:ahLst/>
            <a:cxnLst/>
            <a:rect l="l" t="t" r="r" b="b"/>
            <a:pathLst>
              <a:path w="8779576" h="8786899">
                <a:moveTo>
                  <a:pt x="8779576" y="8786899"/>
                </a:moveTo>
                <a:lnTo>
                  <a:pt x="0" y="8786899"/>
                </a:lnTo>
                <a:lnTo>
                  <a:pt x="0" y="0"/>
                </a:lnTo>
                <a:lnTo>
                  <a:pt x="8779576" y="0"/>
                </a:lnTo>
                <a:lnTo>
                  <a:pt x="8779576" y="87868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1626705" y="3146567"/>
            <a:ext cx="6131802" cy="2798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15"/>
              </a:lnSpc>
            </a:pPr>
            <a:r>
              <a:rPr lang="en-US" sz="10500" b="1" dirty="0"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3615</Words>
  <Application>Microsoft Office PowerPoint</Application>
  <PresentationFormat>مخصص</PresentationFormat>
  <Paragraphs>401</Paragraphs>
  <Slides>21</Slides>
  <Notes>19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6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21</vt:i4>
      </vt:variant>
    </vt:vector>
  </HeadingPairs>
  <TitlesOfParts>
    <vt:vector size="28" baseType="lpstr">
      <vt:lpstr>Arial</vt:lpstr>
      <vt:lpstr>Inter Bold</vt:lpstr>
      <vt:lpstr>Calibri</vt:lpstr>
      <vt:lpstr>Montserrat Bold</vt:lpstr>
      <vt:lpstr>Open Sans 1 Bold</vt:lpstr>
      <vt:lpstr>Cambria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Wildlife_reserve_Control_and_Detection_System_Group10_Proposal_V1</dc:title>
  <dc:creator>Admin</dc:creator>
  <cp:lastModifiedBy>Abdulrahman Binshannar</cp:lastModifiedBy>
  <cp:revision>6</cp:revision>
  <dcterms:created xsi:type="dcterms:W3CDTF">2006-08-16T00:00:00Z</dcterms:created>
  <dcterms:modified xsi:type="dcterms:W3CDTF">2026-09-29T13:07:58Z</dcterms:modified>
  <dc:identifier>DAHTfRfgKzg</dc:identifier>
</cp:coreProperties>
</file>